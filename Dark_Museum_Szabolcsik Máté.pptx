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0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_dark_moody_atmospheric_interior_scene_of_a_gra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14400" y="4160520"/>
            <a:ext cx="10332720" cy="1325880"/>
          </a:xfrm>
          <a:prstGeom prst="roundRect">
            <a:avLst/>
          </a:prstGeom>
          <a:solidFill>
            <a:srgbClr val="120E0C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4343400"/>
            <a:ext cx="960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F8DB9C"/>
                </a:solidFill>
                <a:latin typeface="Georgia"/>
              </a:defRPr>
            </a:pPr>
            <a:r>
              <a:rPr dirty="0"/>
              <a:t>DARK MUSEU</a:t>
            </a:r>
            <a:r>
              <a:rPr lang="hu-HU" dirty="0"/>
              <a:t>M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828800" y="4892040"/>
            <a:ext cx="8412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8AC99"/>
                </a:solidFill>
                <a:latin typeface="Aptos"/>
              </a:defRPr>
            </a:pPr>
            <a:r>
              <a:rPr lang="hu-HU" dirty="0"/>
              <a:t>Készítette: Szabolcsik Máté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_dark_moody_gothic_ui_background_scene_overall_batch_2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457" y="-17621"/>
            <a:ext cx="12223018" cy="68756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5364" y="751533"/>
            <a:ext cx="26142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DB9C"/>
                </a:solidFill>
                <a:latin typeface="Georgia"/>
              </a:defRPr>
            </a:pPr>
            <a:r>
              <a:rPr dirty="0"/>
              <a:t>KONCEPCIÓ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1580" y="1200151"/>
            <a:ext cx="2148840" cy="32004"/>
          </a:xfrm>
          <a:prstGeom prst="rect">
            <a:avLst/>
          </a:prstGeom>
          <a:solidFill>
            <a:srgbClr val="DB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93647" y="1347905"/>
            <a:ext cx="370666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8AC99"/>
                </a:solidFill>
                <a:latin typeface="Aptos"/>
              </a:defRPr>
            </a:pPr>
            <a:r>
              <a:rPr dirty="0" err="1"/>
              <a:t>Egy</a:t>
            </a:r>
            <a:r>
              <a:rPr dirty="0"/>
              <a:t> </a:t>
            </a:r>
            <a:r>
              <a:rPr dirty="0" err="1"/>
              <a:t>sötét</a:t>
            </a:r>
            <a:r>
              <a:rPr dirty="0"/>
              <a:t> </a:t>
            </a:r>
            <a:r>
              <a:rPr dirty="0" err="1"/>
              <a:t>múzeum</a:t>
            </a:r>
            <a:r>
              <a:rPr dirty="0"/>
              <a:t>, </a:t>
            </a:r>
            <a:r>
              <a:rPr dirty="0" err="1"/>
              <a:t>ahol</a:t>
            </a:r>
            <a:r>
              <a:rPr dirty="0"/>
              <a:t> a </a:t>
            </a:r>
            <a:r>
              <a:rPr dirty="0" err="1"/>
              <a:t>fény</a:t>
            </a:r>
            <a:r>
              <a:rPr dirty="0"/>
              <a:t> a </a:t>
            </a:r>
            <a:r>
              <a:rPr dirty="0" err="1"/>
              <a:t>túlélés</a:t>
            </a:r>
            <a:r>
              <a:rPr dirty="0"/>
              <a:t> </a:t>
            </a:r>
            <a:r>
              <a:rPr dirty="0" err="1"/>
              <a:t>feltétele</a:t>
            </a:r>
            <a:endParaRPr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9E58BC0-CE5C-ABB7-2B4B-2C715D26F10B}"/>
              </a:ext>
            </a:extLst>
          </p:cNvPr>
          <p:cNvGrpSpPr/>
          <p:nvPr/>
        </p:nvGrpSpPr>
        <p:grpSpPr>
          <a:xfrm>
            <a:off x="4382402" y="2736353"/>
            <a:ext cx="5285829" cy="1920240"/>
            <a:chOff x="4195305" y="4803897"/>
            <a:chExt cx="5285829" cy="1920240"/>
          </a:xfrm>
        </p:grpSpPr>
        <p:sp>
          <p:nvSpPr>
            <p:cNvPr id="15" name="Rounded Rectangle 14"/>
            <p:cNvSpPr/>
            <p:nvPr/>
          </p:nvSpPr>
          <p:spPr>
            <a:xfrm>
              <a:off x="4195305" y="4803897"/>
              <a:ext cx="3337560" cy="1920240"/>
            </a:xfrm>
            <a:prstGeom prst="roundRect">
              <a:avLst/>
            </a:prstGeom>
            <a:solidFill>
              <a:srgbClr val="1C140F"/>
            </a:solidFill>
            <a:ln w="16510">
              <a:solidFill>
                <a:srgbClr val="D69F3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Oval 15"/>
            <p:cNvSpPr/>
            <p:nvPr/>
          </p:nvSpPr>
          <p:spPr>
            <a:xfrm>
              <a:off x="4360493" y="4992349"/>
              <a:ext cx="438912" cy="438912"/>
            </a:xfrm>
            <a:prstGeom prst="ellipse">
              <a:avLst/>
            </a:prstGeom>
            <a:solidFill>
              <a:srgbClr val="941212"/>
            </a:solidFill>
            <a:ln>
              <a:solidFill>
                <a:srgbClr val="D69F3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360493" y="5065501"/>
              <a:ext cx="438912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600" b="1">
                  <a:solidFill>
                    <a:srgbClr val="F8DB9C"/>
                  </a:solidFill>
                  <a:latin typeface="Georgia"/>
                </a:defRPr>
              </a:pPr>
              <a:r>
                <a:t>2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909134" y="4974061"/>
              <a:ext cx="45720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500" b="1">
                  <a:solidFill>
                    <a:srgbClr val="F8DB9C"/>
                  </a:solidFill>
                  <a:latin typeface="Georgia"/>
                </a:defRPr>
              </a:pPr>
              <a:r>
                <a:t>Feszültség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909134" y="5394685"/>
              <a:ext cx="2423160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>
                  <a:solidFill>
                    <a:srgbClr val="ECE8DE"/>
                  </a:solidFill>
                  <a:latin typeface="Aptos"/>
                </a:defRPr>
              </a:pPr>
              <a:r>
                <a:t>Az idő visszaszámlál. Ha lejár, a sötétség elkapja a játékost.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1917589-5490-8F62-4D8D-0B9CF218C2E1}"/>
              </a:ext>
            </a:extLst>
          </p:cNvPr>
          <p:cNvGrpSpPr/>
          <p:nvPr/>
        </p:nvGrpSpPr>
        <p:grpSpPr>
          <a:xfrm>
            <a:off x="8109180" y="2750565"/>
            <a:ext cx="3337560" cy="1920240"/>
            <a:chOff x="7853502" y="4809469"/>
            <a:chExt cx="3337560" cy="1920240"/>
          </a:xfrm>
        </p:grpSpPr>
        <p:sp>
          <p:nvSpPr>
            <p:cNvPr id="20" name="Rounded Rectangle 19"/>
            <p:cNvSpPr/>
            <p:nvPr/>
          </p:nvSpPr>
          <p:spPr>
            <a:xfrm>
              <a:off x="7853502" y="4809469"/>
              <a:ext cx="3337560" cy="1920240"/>
            </a:xfrm>
            <a:prstGeom prst="roundRect">
              <a:avLst/>
            </a:prstGeom>
            <a:solidFill>
              <a:srgbClr val="1C140F"/>
            </a:solidFill>
            <a:ln w="16510">
              <a:solidFill>
                <a:srgbClr val="D69F3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Oval 20"/>
            <p:cNvSpPr/>
            <p:nvPr/>
          </p:nvSpPr>
          <p:spPr>
            <a:xfrm>
              <a:off x="8018093" y="4992349"/>
              <a:ext cx="438912" cy="438912"/>
            </a:xfrm>
            <a:prstGeom prst="ellipse">
              <a:avLst/>
            </a:prstGeom>
            <a:solidFill>
              <a:srgbClr val="941212"/>
            </a:solidFill>
            <a:ln>
              <a:solidFill>
                <a:srgbClr val="D69F3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018093" y="5065501"/>
              <a:ext cx="438912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600" b="1">
                  <a:solidFill>
                    <a:srgbClr val="F8DB9C"/>
                  </a:solidFill>
                  <a:latin typeface="Georgia"/>
                </a:defRPr>
              </a:pPr>
              <a:r>
                <a:t>3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566734" y="5394685"/>
              <a:ext cx="2423160" cy="1234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>
                  <a:solidFill>
                    <a:srgbClr val="ECE8DE"/>
                  </a:solidFill>
                  <a:latin typeface="Aptos"/>
                </a:defRPr>
              </a:pPr>
              <a:r>
                <a:t>Folyosók, kanyarok, parkour részek és fényalapú útvonalvezetés váltják egymást.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893BC93-F9AE-3FF7-DD76-17472D815A85}"/>
              </a:ext>
            </a:extLst>
          </p:cNvPr>
          <p:cNvGrpSpPr/>
          <p:nvPr/>
        </p:nvGrpSpPr>
        <p:grpSpPr>
          <a:xfrm>
            <a:off x="776530" y="2750565"/>
            <a:ext cx="3337560" cy="1920240"/>
            <a:chOff x="538302" y="4809469"/>
            <a:chExt cx="3337560" cy="1920240"/>
          </a:xfrm>
        </p:grpSpPr>
        <p:sp>
          <p:nvSpPr>
            <p:cNvPr id="10" name="Rounded Rectangle 9"/>
            <p:cNvSpPr/>
            <p:nvPr/>
          </p:nvSpPr>
          <p:spPr>
            <a:xfrm>
              <a:off x="538302" y="4809469"/>
              <a:ext cx="3337560" cy="1920240"/>
            </a:xfrm>
            <a:prstGeom prst="roundRect">
              <a:avLst/>
            </a:prstGeom>
            <a:solidFill>
              <a:srgbClr val="1C140F"/>
            </a:solidFill>
            <a:ln w="16510">
              <a:solidFill>
                <a:srgbClr val="D69F3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Oval 10"/>
            <p:cNvSpPr/>
            <p:nvPr/>
          </p:nvSpPr>
          <p:spPr>
            <a:xfrm>
              <a:off x="702894" y="4992349"/>
              <a:ext cx="438912" cy="438912"/>
            </a:xfrm>
            <a:prstGeom prst="ellipse">
              <a:avLst/>
            </a:prstGeom>
            <a:solidFill>
              <a:srgbClr val="941212"/>
            </a:solidFill>
            <a:ln>
              <a:solidFill>
                <a:srgbClr val="D69F3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02894" y="5065501"/>
              <a:ext cx="438912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600" b="1">
                  <a:solidFill>
                    <a:srgbClr val="F8DB9C"/>
                  </a:solidFill>
                  <a:latin typeface="Georgia"/>
                </a:defRPr>
              </a:pPr>
              <a:r>
                <a:t>1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251534" y="5394685"/>
              <a:ext cx="2423160" cy="1234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>
                  <a:solidFill>
                    <a:srgbClr val="ECE8DE"/>
                  </a:solidFill>
                  <a:latin typeface="Aptos"/>
                </a:defRPr>
              </a:pPr>
              <a:r>
                <a:t>A játékos végighalad a labirintuson, aktiválja a lámpákat, majd eléri a kijáratot.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489762" y="2934791"/>
            <a:ext cx="55449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DB9C"/>
                </a:solidFill>
                <a:latin typeface="Georgia"/>
              </a:defRPr>
            </a:pPr>
            <a:r>
              <a:rPr dirty="0" err="1"/>
              <a:t>Cél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8822412" y="2982678"/>
            <a:ext cx="153965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DB9C"/>
                </a:solidFill>
                <a:latin typeface="Georgia"/>
              </a:defRPr>
            </a:pPr>
            <a:r>
              <a:rPr dirty="0" err="1"/>
              <a:t>Változatosság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632" y="0"/>
            <a:ext cx="12191695" cy="6858000"/>
          </a:xfrm>
          <a:prstGeom prst="rect">
            <a:avLst/>
          </a:prstGeom>
          <a:solidFill>
            <a:srgbClr val="07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12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180015" y="0"/>
            <a:ext cx="2011680" cy="6858000"/>
          </a:xfrm>
          <a:prstGeom prst="rect">
            <a:avLst/>
          </a:prstGeom>
          <a:solidFill>
            <a:srgbClr val="12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44215" y="172621"/>
            <a:ext cx="35188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DB9C"/>
                </a:solidFill>
                <a:latin typeface="Georgia"/>
              </a:defRPr>
            </a:pPr>
            <a:r>
              <a:rPr dirty="0"/>
              <a:t>VIZUÁLIS IRÁNY</a:t>
            </a:r>
          </a:p>
        </p:txBody>
      </p:sp>
      <p:sp>
        <p:nvSpPr>
          <p:cNvPr id="6" name="Rectangle 5"/>
          <p:cNvSpPr/>
          <p:nvPr/>
        </p:nvSpPr>
        <p:spPr>
          <a:xfrm>
            <a:off x="5116737" y="691937"/>
            <a:ext cx="2148840" cy="32004"/>
          </a:xfrm>
          <a:prstGeom prst="rect">
            <a:avLst/>
          </a:prstGeom>
          <a:solidFill>
            <a:srgbClr val="DB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91381" y="834110"/>
            <a:ext cx="99803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8AC99"/>
                </a:solidFill>
                <a:latin typeface="Aptos"/>
              </a:defRPr>
            </a:pPr>
            <a:r>
              <a:rPr lang="hu-HU" dirty="0"/>
              <a:t>Elképzelés:</a:t>
            </a:r>
            <a:endParaRPr dirty="0"/>
          </a:p>
        </p:txBody>
      </p:sp>
      <p:pic>
        <p:nvPicPr>
          <p:cNvPr id="8" name="Picture 7" descr="a_dark_moody_atmospheric_interior_scene_of_a_gra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3611880" cy="2331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" y="1280160"/>
            <a:ext cx="3611880" cy="2331720"/>
          </a:xfrm>
          <a:prstGeom prst="rect">
            <a:avLst/>
          </a:prstGeom>
          <a:noFill/>
          <a:ln w="1524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a_dark_moody_gothic_ui_background_scene_overall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280160"/>
            <a:ext cx="3611880" cy="2331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297680" y="1280160"/>
            <a:ext cx="3611880" cy="2331720"/>
          </a:xfrm>
          <a:prstGeom prst="rect">
            <a:avLst/>
          </a:prstGeom>
          <a:noFill/>
          <a:ln w="1524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_dark_cinematic_moody_interior_scene_a_long_n_batch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1280160"/>
            <a:ext cx="3611880" cy="23317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955279" y="1280160"/>
            <a:ext cx="3611880" cy="2331720"/>
          </a:xfrm>
          <a:prstGeom prst="rect">
            <a:avLst/>
          </a:prstGeom>
          <a:noFill/>
          <a:ln w="1524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0120" y="3977639"/>
            <a:ext cx="10287000" cy="1508760"/>
          </a:xfrm>
          <a:prstGeom prst="roundRect">
            <a:avLst/>
          </a:prstGeom>
          <a:solidFill>
            <a:srgbClr val="1C140F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4206240"/>
            <a:ext cx="9784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CE8DE"/>
                </a:solidFill>
                <a:latin typeface="Aptos"/>
              </a:defRPr>
            </a:pPr>
            <a:r>
              <a:t>Fekete és barna alap, arany és vörös hangsúlyokkal</a:t>
            </a:r>
          </a:p>
          <a:p>
            <a:pPr>
              <a:spcAft>
                <a:spcPts val="800"/>
              </a:spcAft>
              <a:defRPr sz="1800">
                <a:solidFill>
                  <a:srgbClr val="ECE8DE"/>
                </a:solidFill>
                <a:latin typeface="Aptos"/>
              </a:defRPr>
            </a:pPr>
            <a:r>
              <a:t>Kevés UI elem, erős kontraszt, jól olvasható menük</a:t>
            </a:r>
          </a:p>
          <a:p>
            <a:pPr>
              <a:spcAft>
                <a:spcPts val="800"/>
              </a:spcAft>
              <a:defRPr sz="1800">
                <a:solidFill>
                  <a:srgbClr val="ECE8DE"/>
                </a:solidFill>
                <a:latin typeface="Aptos"/>
              </a:defRPr>
            </a:pPr>
            <a:r>
              <a:t>A lámpák meleg fényként vezetik a játékost a sötét pályán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95151D-492B-830A-33B0-1A70539D9BC8}"/>
              </a:ext>
            </a:extLst>
          </p:cNvPr>
          <p:cNvSpPr txBox="1"/>
          <p:nvPr/>
        </p:nvSpPr>
        <p:spPr>
          <a:xfrm>
            <a:off x="2890396" y="5932449"/>
            <a:ext cx="3300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solidFill>
                  <a:schemeClr val="bg1"/>
                </a:solidFill>
              </a:rPr>
              <a:t>Ui</a:t>
            </a:r>
            <a:r>
              <a:rPr lang="hu-HU" dirty="0">
                <a:solidFill>
                  <a:schemeClr val="bg1"/>
                </a:solidFill>
              </a:rPr>
              <a:t>: Majdnem összejött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_wide_cinematic_3d_rendered_scene_of_a_virtual_g_batch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8DB9C"/>
                </a:solidFill>
                <a:latin typeface="Georgia"/>
              </a:defRPr>
            </a:pPr>
            <a:r>
              <a:t>FELHASZNÁLT TECHNOLÓGIÁK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969264"/>
            <a:ext cx="2148840" cy="32004"/>
          </a:xfrm>
          <a:prstGeom prst="rect">
            <a:avLst/>
          </a:prstGeom>
          <a:solidFill>
            <a:srgbClr val="DB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60120" y="1417320"/>
          <a:ext cx="10241279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DB9C"/>
                          </a:solidFill>
                          <a:latin typeface="Aptos"/>
                        </a:defRPr>
                      </a:pPr>
                      <a:r>
                        <a:t>Technológia</a:t>
                      </a:r>
                    </a:p>
                  </a:txBody>
                  <a:tcPr>
                    <a:solidFill>
                      <a:srgbClr val="94121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8DB9C"/>
                          </a:solidFill>
                          <a:latin typeface="Aptos"/>
                        </a:defRPr>
                      </a:pPr>
                      <a:r>
                        <a:t>Feladat a játékban</a:t>
                      </a:r>
                    </a:p>
                  </a:txBody>
                  <a:tcPr>
                    <a:solidFill>
                      <a:srgbClr val="94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ECE8DE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1C140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CE8DE"/>
                          </a:solidFill>
                          <a:latin typeface="Aptos"/>
                        </a:defRPr>
                      </a:pPr>
                      <a:r>
                        <a:t>Játéklogika, állapotkezelés, fájlstruktúra</a:t>
                      </a:r>
                    </a:p>
                  </a:txBody>
                  <a:tcPr>
                    <a:solidFill>
                      <a:srgbClr val="1C1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ECE8DE"/>
                          </a:solidFill>
                          <a:latin typeface="Aptos"/>
                        </a:defRPr>
                      </a:pPr>
                      <a:r>
                        <a:t>SDL2</a:t>
                      </a:r>
                    </a:p>
                  </a:txBody>
                  <a:tcPr>
                    <a:solidFill>
                      <a:srgbClr val="110D0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CE8DE"/>
                          </a:solidFill>
                          <a:latin typeface="Aptos"/>
                        </a:defRPr>
                      </a:pPr>
                      <a:r>
                        <a:t>Ablak, eseménykezelés, egér és billentyűzet</a:t>
                      </a:r>
                    </a:p>
                  </a:txBody>
                  <a:tcPr>
                    <a:solidFill>
                      <a:srgbClr val="110D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ECE8DE"/>
                          </a:solidFill>
                          <a:latin typeface="Aptos"/>
                        </a:defRPr>
                      </a:pPr>
                      <a:r>
                        <a:t>OpenGL</a:t>
                      </a:r>
                    </a:p>
                  </a:txBody>
                  <a:tcPr>
                    <a:solidFill>
                      <a:srgbClr val="1C140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CE8DE"/>
                          </a:solidFill>
                          <a:latin typeface="Aptos"/>
                        </a:defRPr>
                      </a:pPr>
                      <a:r>
                        <a:t>3D kirajzolás, fények, textúrák, UI overlay</a:t>
                      </a:r>
                    </a:p>
                  </a:txBody>
                  <a:tcPr>
                    <a:solidFill>
                      <a:srgbClr val="1C1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ECE8DE"/>
                          </a:solidFill>
                          <a:latin typeface="Aptos"/>
                        </a:defRPr>
                      </a:pPr>
                      <a:r>
                        <a:t>GLB modell</a:t>
                      </a:r>
                    </a:p>
                  </a:txBody>
                  <a:tcPr>
                    <a:solidFill>
                      <a:srgbClr val="110D0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CE8DE"/>
                          </a:solidFill>
                          <a:latin typeface="Aptos"/>
                        </a:defRPr>
                      </a:pPr>
                      <a:r>
                        <a:t>A lámpa külön modellfájlból töltődik be</a:t>
                      </a:r>
                    </a:p>
                  </a:txBody>
                  <a:tcPr>
                    <a:solidFill>
                      <a:srgbClr val="110D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ECE8DE"/>
                          </a:solidFill>
                          <a:latin typeface="Aptos"/>
                        </a:defRPr>
                      </a:pPr>
                      <a:r>
                        <a:t>BMP textúrák</a:t>
                      </a:r>
                    </a:p>
                  </a:txBody>
                  <a:tcPr>
                    <a:solidFill>
                      <a:srgbClr val="1C140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CE8DE"/>
                          </a:solidFill>
                          <a:latin typeface="Aptos"/>
                        </a:defRPr>
                      </a:pPr>
                      <a:r>
                        <a:t>Fal, padló és plafon felületek</a:t>
                      </a:r>
                    </a:p>
                  </a:txBody>
                  <a:tcPr>
                    <a:solidFill>
                      <a:srgbClr val="1C1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_dark_moody_gothic_ui_background_scene_overall_batch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8DB9C"/>
                </a:solidFill>
                <a:latin typeface="Georgia"/>
              </a:defRPr>
            </a:pPr>
            <a:r>
              <a:t>PROGRAM FELÉPÍTÉSE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969264"/>
            <a:ext cx="2148840" cy="32004"/>
          </a:xfrm>
          <a:prstGeom prst="rect">
            <a:avLst/>
          </a:prstGeom>
          <a:solidFill>
            <a:srgbClr val="DB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0" y="877824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8AC99"/>
                </a:solidFill>
                <a:latin typeface="Aptos"/>
              </a:defRPr>
            </a:pPr>
            <a:r>
              <a:t>A fájlok külön felelősségeket kapnak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234440"/>
            <a:ext cx="2743200" cy="475488"/>
          </a:xfrm>
          <a:prstGeom prst="roundRect">
            <a:avLst/>
          </a:prstGeom>
          <a:solidFill>
            <a:srgbClr val="1C140F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34416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F8DB9C"/>
                </a:solidFill>
                <a:latin typeface="Consolas"/>
              </a:defRPr>
            </a:pPr>
            <a:r>
              <a:t>app.c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289304"/>
            <a:ext cx="7223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ECE8DE"/>
                </a:solidFill>
                <a:latin typeface="Aptos"/>
              </a:defRPr>
            </a:pPr>
            <a:r>
              <a:t>Ablak, fő ciklus, input, menüállapot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7872" y="1481328"/>
            <a:ext cx="164592" cy="18288"/>
          </a:xfrm>
          <a:prstGeom prst="rect">
            <a:avLst/>
          </a:prstGeom>
          <a:solidFill>
            <a:srgbClr val="D6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7240" y="1901952"/>
            <a:ext cx="2743200" cy="475488"/>
          </a:xfrm>
          <a:prstGeom prst="roundRect">
            <a:avLst/>
          </a:prstGeom>
          <a:solidFill>
            <a:srgbClr val="1C140F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011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F8DB9C"/>
                </a:solidFill>
                <a:latin typeface="Consolas"/>
              </a:defRPr>
            </a:pPr>
            <a:r>
              <a:t>game.c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1956816"/>
            <a:ext cx="7223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ECE8DE"/>
                </a:solidFill>
                <a:latin typeface="Aptos"/>
              </a:defRPr>
            </a:pPr>
            <a:r>
              <a:t>Játékszabályok, pálya, játékos, lámpák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7872" y="2148840"/>
            <a:ext cx="164592" cy="18288"/>
          </a:xfrm>
          <a:prstGeom prst="rect">
            <a:avLst/>
          </a:prstGeom>
          <a:solidFill>
            <a:srgbClr val="D6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77240" y="2569464"/>
            <a:ext cx="2743200" cy="475488"/>
          </a:xfrm>
          <a:prstGeom prst="roundRect">
            <a:avLst/>
          </a:prstGeom>
          <a:solidFill>
            <a:srgbClr val="1C140F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26791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F8DB9C"/>
                </a:solidFill>
                <a:latin typeface="Consolas"/>
              </a:defRPr>
            </a:pPr>
            <a:r>
              <a:t>render.c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624328"/>
            <a:ext cx="7223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ECE8DE"/>
                </a:solidFill>
                <a:latin typeface="Aptos"/>
              </a:defRPr>
            </a:pPr>
            <a:r>
              <a:t>3D jelenet, UI, fények, menü, end screen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7872" y="2816352"/>
            <a:ext cx="164592" cy="18288"/>
          </a:xfrm>
          <a:prstGeom prst="rect">
            <a:avLst/>
          </a:prstGeom>
          <a:solidFill>
            <a:srgbClr val="D6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77240" y="3236976"/>
            <a:ext cx="2743200" cy="475488"/>
          </a:xfrm>
          <a:prstGeom prst="roundRect">
            <a:avLst/>
          </a:prstGeom>
          <a:solidFill>
            <a:srgbClr val="1C140F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334670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F8DB9C"/>
                </a:solidFill>
                <a:latin typeface="Consolas"/>
              </a:defRPr>
            </a:pPr>
            <a:r>
              <a:t>collision.c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291840"/>
            <a:ext cx="7223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ECE8DE"/>
                </a:solidFill>
                <a:latin typeface="Aptos"/>
              </a:defRPr>
            </a:pPr>
            <a:r>
              <a:t>AABB alapú ütközésvizsgálat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7872" y="3483864"/>
            <a:ext cx="164592" cy="18288"/>
          </a:xfrm>
          <a:prstGeom prst="rect">
            <a:avLst/>
          </a:prstGeom>
          <a:solidFill>
            <a:srgbClr val="D6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77240" y="3904487"/>
            <a:ext cx="2743200" cy="475488"/>
          </a:xfrm>
          <a:prstGeom prst="roundRect">
            <a:avLst/>
          </a:prstGeom>
          <a:solidFill>
            <a:srgbClr val="1C140F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4014215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F8DB9C"/>
                </a:solidFill>
                <a:latin typeface="Consolas"/>
              </a:defRPr>
            </a:pPr>
            <a:r>
              <a:t>model.c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959351"/>
            <a:ext cx="7223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ECE8DE"/>
                </a:solidFill>
                <a:latin typeface="Aptos"/>
              </a:defRPr>
            </a:pPr>
            <a:r>
              <a:t>GLB modell betöltése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47872" y="4151375"/>
            <a:ext cx="164592" cy="18288"/>
          </a:xfrm>
          <a:prstGeom prst="rect">
            <a:avLst/>
          </a:prstGeom>
          <a:solidFill>
            <a:srgbClr val="D6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77240" y="4572000"/>
            <a:ext cx="2743200" cy="475488"/>
          </a:xfrm>
          <a:prstGeom prst="roundRect">
            <a:avLst/>
          </a:prstGeom>
          <a:solidFill>
            <a:srgbClr val="1C140F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46817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F8DB9C"/>
                </a:solidFill>
                <a:latin typeface="Consolas"/>
              </a:defRPr>
            </a:pPr>
            <a:r>
              <a:t>texture.c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626864"/>
            <a:ext cx="7223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ECE8DE"/>
                </a:solidFill>
                <a:latin typeface="Aptos"/>
              </a:defRPr>
            </a:pPr>
            <a:r>
              <a:t>Textúrák betöltése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7872" y="4818888"/>
            <a:ext cx="164592" cy="18288"/>
          </a:xfrm>
          <a:prstGeom prst="rect">
            <a:avLst/>
          </a:prstGeom>
          <a:solidFill>
            <a:srgbClr val="D6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85800" y="5486400"/>
            <a:ext cx="10698480" cy="502920"/>
          </a:xfrm>
          <a:prstGeom prst="roundRect">
            <a:avLst/>
          </a:prstGeom>
          <a:solidFill>
            <a:srgbClr val="120E0C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120" y="5605272"/>
            <a:ext cx="10149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8AC99"/>
                </a:solidFill>
                <a:latin typeface="Aptos"/>
              </a:defRPr>
            </a:pPr>
            <a:r>
              <a:t>A cél az volt, hogy a renderelés, a játéklogika és az input ne keveredjen össze.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12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180015" y="0"/>
            <a:ext cx="2011680" cy="6858000"/>
          </a:xfrm>
          <a:prstGeom prst="rect">
            <a:avLst/>
          </a:prstGeom>
          <a:solidFill>
            <a:srgbClr val="12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8DB9C"/>
                </a:solidFill>
                <a:latin typeface="Georgia"/>
              </a:defRPr>
            </a:pPr>
            <a:r>
              <a:t>IRÁNYÍTÁS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69264"/>
            <a:ext cx="2148840" cy="32004"/>
          </a:xfrm>
          <a:prstGeom prst="rect">
            <a:avLst/>
          </a:prstGeom>
          <a:solidFill>
            <a:srgbClr val="DB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26080" y="877824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8AC99"/>
                </a:solidFill>
                <a:latin typeface="Aptos"/>
              </a:defRPr>
            </a:pPr>
            <a:r>
              <a:t>A kezelés first person játékokhoz hasonló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143000" y="1280160"/>
          <a:ext cx="97840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DB9C"/>
                          </a:solidFill>
                          <a:latin typeface="Aptos"/>
                        </a:defRPr>
                      </a:pPr>
                      <a:r>
                        <a:t>Billentyű / egér</a:t>
                      </a:r>
                    </a:p>
                  </a:txBody>
                  <a:tcPr>
                    <a:solidFill>
                      <a:srgbClr val="94121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8DB9C"/>
                          </a:solidFill>
                          <a:latin typeface="Aptos"/>
                        </a:defRPr>
                      </a:pPr>
                      <a:r>
                        <a:t>Funkció</a:t>
                      </a:r>
                    </a:p>
                  </a:txBody>
                  <a:tcPr>
                    <a:solidFill>
                      <a:srgbClr val="94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ECE8DE"/>
                          </a:solidFill>
                          <a:latin typeface="Aptos"/>
                        </a:defRPr>
                      </a:pPr>
                      <a:r>
                        <a:t>W A S D</a:t>
                      </a:r>
                    </a:p>
                  </a:txBody>
                  <a:tcPr>
                    <a:solidFill>
                      <a:srgbClr val="1C140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CE8DE"/>
                          </a:solidFill>
                          <a:latin typeface="Aptos"/>
                        </a:defRPr>
                      </a:pPr>
                      <a:r>
                        <a:t>Mozgás a pályán</a:t>
                      </a:r>
                    </a:p>
                  </a:txBody>
                  <a:tcPr>
                    <a:solidFill>
                      <a:srgbClr val="1C1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ECE8DE"/>
                          </a:solidFill>
                          <a:latin typeface="Aptos"/>
                        </a:defRPr>
                      </a:pPr>
                      <a:r>
                        <a:t>Egér</a:t>
                      </a:r>
                    </a:p>
                  </a:txBody>
                  <a:tcPr>
                    <a:solidFill>
                      <a:srgbClr val="110D0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CE8DE"/>
                          </a:solidFill>
                          <a:latin typeface="Aptos"/>
                        </a:defRPr>
                      </a:pPr>
                      <a:r>
                        <a:t>Kamera forgatása</a:t>
                      </a:r>
                    </a:p>
                  </a:txBody>
                  <a:tcPr>
                    <a:solidFill>
                      <a:srgbClr val="110D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ECE8DE"/>
                          </a:solidFill>
                          <a:latin typeface="Aptos"/>
                        </a:defRPr>
                      </a:pPr>
                      <a:r>
                        <a:t>SPACE</a:t>
                      </a:r>
                    </a:p>
                  </a:txBody>
                  <a:tcPr>
                    <a:solidFill>
                      <a:srgbClr val="1C140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CE8DE"/>
                          </a:solidFill>
                          <a:latin typeface="Aptos"/>
                        </a:defRPr>
                      </a:pPr>
                      <a:r>
                        <a:t>Ugrás, parkour részeknél fontos</a:t>
                      </a:r>
                    </a:p>
                  </a:txBody>
                  <a:tcPr>
                    <a:solidFill>
                      <a:srgbClr val="1C1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ECE8DE"/>
                          </a:solidFill>
                          <a:latin typeface="Aptos"/>
                        </a:defRPr>
                      </a:pPr>
                      <a:r>
                        <a:t>E / + / Fel</a:t>
                      </a:r>
                    </a:p>
                  </a:txBody>
                  <a:tcPr>
                    <a:solidFill>
                      <a:srgbClr val="110D0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CE8DE"/>
                          </a:solidFill>
                          <a:latin typeface="Aptos"/>
                        </a:defRPr>
                      </a:pPr>
                      <a:r>
                        <a:t>Lámpa fényerejének növelése</a:t>
                      </a:r>
                    </a:p>
                  </a:txBody>
                  <a:tcPr>
                    <a:solidFill>
                      <a:srgbClr val="110D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ECE8DE"/>
                          </a:solidFill>
                          <a:latin typeface="Aptos"/>
                        </a:defRPr>
                      </a:pPr>
                      <a:r>
                        <a:t>Q / - / Le</a:t>
                      </a:r>
                    </a:p>
                  </a:txBody>
                  <a:tcPr>
                    <a:solidFill>
                      <a:srgbClr val="1C140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CE8DE"/>
                          </a:solidFill>
                          <a:latin typeface="Aptos"/>
                        </a:defRPr>
                      </a:pPr>
                      <a:r>
                        <a:t>Lámpa fényerejének csökkentése</a:t>
                      </a:r>
                    </a:p>
                  </a:txBody>
                  <a:tcPr>
                    <a:solidFill>
                      <a:srgbClr val="1C1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ECE8DE"/>
                          </a:solidFill>
                          <a:latin typeface="Aptos"/>
                        </a:defRPr>
                      </a:pPr>
                      <a:r>
                        <a:t>ESC</a:t>
                      </a:r>
                    </a:p>
                  </a:txBody>
                  <a:tcPr>
                    <a:solidFill>
                      <a:srgbClr val="110D0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CE8DE"/>
                          </a:solidFill>
                          <a:latin typeface="Aptos"/>
                        </a:defRPr>
                      </a:pPr>
                      <a:r>
                        <a:t>Menü vagy kilépés állapottól függően</a:t>
                      </a:r>
                    </a:p>
                  </a:txBody>
                  <a:tcPr>
                    <a:solidFill>
                      <a:srgbClr val="110D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ECE8DE"/>
                          </a:solidFill>
                          <a:latin typeface="Aptos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C140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CE8DE"/>
                          </a:solidFill>
                          <a:latin typeface="Aptos"/>
                        </a:defRPr>
                      </a:pPr>
                      <a:r>
                        <a:t>Használati útmutató megjelenítése</a:t>
                      </a:r>
                    </a:p>
                  </a:txBody>
                  <a:tcPr>
                    <a:solidFill>
                      <a:srgbClr val="1C1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_dark_cinematic_moody_interior_scene_a_long_n_batch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8DB9C"/>
                </a:solidFill>
                <a:latin typeface="Georgia"/>
              </a:defRPr>
            </a:pPr>
            <a:r>
              <a:t>JÁTÉKMENET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969264"/>
            <a:ext cx="2148840" cy="32004"/>
          </a:xfrm>
          <a:prstGeom prst="rect">
            <a:avLst/>
          </a:prstGeom>
          <a:solidFill>
            <a:srgbClr val="DB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1938528" cy="2423160"/>
          </a:xfrm>
          <a:prstGeom prst="roundRect">
            <a:avLst/>
          </a:prstGeom>
          <a:solidFill>
            <a:srgbClr val="1C140F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389888" y="2029968"/>
            <a:ext cx="530352" cy="530352"/>
          </a:xfrm>
          <a:prstGeom prst="ellipse">
            <a:avLst/>
          </a:prstGeom>
          <a:solidFill>
            <a:srgbClr val="941212"/>
          </a:solidFill>
          <a:ln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89888" y="2121408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8DB9C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4320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F8DB9C"/>
                </a:solidFill>
                <a:latin typeface="Georgia"/>
              </a:defRPr>
            </a:pPr>
            <a:r>
              <a:t>Indulás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54680"/>
            <a:ext cx="15727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>
                <a:solidFill>
                  <a:srgbClr val="ECE8DE"/>
                </a:solidFill>
                <a:latin typeface="Aptos"/>
              </a:defRPr>
            </a:pPr>
            <a:r>
              <a:t>A játékos belép a sötét múzeumba.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53512" y="1828800"/>
            <a:ext cx="1938528" cy="2423160"/>
          </a:xfrm>
          <a:prstGeom prst="roundRect">
            <a:avLst/>
          </a:prstGeom>
          <a:solidFill>
            <a:srgbClr val="1C140F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57600" y="2029968"/>
            <a:ext cx="530352" cy="530352"/>
          </a:xfrm>
          <a:prstGeom prst="ellipse">
            <a:avLst/>
          </a:prstGeom>
          <a:solidFill>
            <a:srgbClr val="941212"/>
          </a:solidFill>
          <a:ln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0" y="2121408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8DB9C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274320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F8DB9C"/>
                </a:solidFill>
                <a:latin typeface="Georgia"/>
              </a:defRPr>
            </a:pPr>
            <a:r>
              <a:t>Lámpa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6392" y="3154680"/>
            <a:ext cx="15727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>
                <a:solidFill>
                  <a:srgbClr val="ECE8DE"/>
                </a:solidFill>
                <a:latin typeface="Aptos"/>
              </a:defRPr>
            </a:pPr>
            <a:r>
              <a:t>Ránéz és feltölti a fényt.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21224" y="1828800"/>
            <a:ext cx="1938528" cy="2423160"/>
          </a:xfrm>
          <a:prstGeom prst="roundRect">
            <a:avLst/>
          </a:prstGeom>
          <a:solidFill>
            <a:srgbClr val="1C140F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925312" y="2029968"/>
            <a:ext cx="530352" cy="530352"/>
          </a:xfrm>
          <a:prstGeom prst="ellipse">
            <a:avLst/>
          </a:prstGeom>
          <a:solidFill>
            <a:srgbClr val="941212"/>
          </a:solidFill>
          <a:ln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25312" y="2121408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8DB9C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274320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F8DB9C"/>
                </a:solidFill>
                <a:latin typeface="Georgia"/>
              </a:defRPr>
            </a:pPr>
            <a:r>
              <a:t>Továbbhaladás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4104" y="3154680"/>
            <a:ext cx="15727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>
                <a:solidFill>
                  <a:srgbClr val="ECE8DE"/>
                </a:solidFill>
                <a:latin typeface="Aptos"/>
              </a:defRPr>
            </a:pPr>
            <a:r>
              <a:t>A fény új biztonságos zónát ad.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88936" y="1828800"/>
            <a:ext cx="1938528" cy="2423160"/>
          </a:xfrm>
          <a:prstGeom prst="roundRect">
            <a:avLst/>
          </a:prstGeom>
          <a:solidFill>
            <a:srgbClr val="1C140F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193023" y="2029968"/>
            <a:ext cx="530352" cy="530352"/>
          </a:xfrm>
          <a:prstGeom prst="ellipse">
            <a:avLst/>
          </a:prstGeom>
          <a:solidFill>
            <a:srgbClr val="941212"/>
          </a:solidFill>
          <a:ln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93023" y="2121408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8DB9C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274320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F8DB9C"/>
                </a:solidFill>
                <a:latin typeface="Georgia"/>
              </a:defRPr>
            </a:pPr>
            <a:r>
              <a:t>Parkour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71815" y="3154680"/>
            <a:ext cx="15727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>
                <a:solidFill>
                  <a:srgbClr val="ECE8DE"/>
                </a:solidFill>
                <a:latin typeface="Aptos"/>
              </a:defRPr>
            </a:pPr>
            <a:r>
              <a:t>Néhány helyen ugrani kell.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56648" y="1828800"/>
            <a:ext cx="1938528" cy="2423160"/>
          </a:xfrm>
          <a:prstGeom prst="roundRect">
            <a:avLst/>
          </a:prstGeom>
          <a:solidFill>
            <a:srgbClr val="1C140F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460736" y="2029968"/>
            <a:ext cx="530352" cy="530352"/>
          </a:xfrm>
          <a:prstGeom prst="ellipse">
            <a:avLst/>
          </a:prstGeom>
          <a:solidFill>
            <a:srgbClr val="941212"/>
          </a:solidFill>
          <a:ln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460736" y="2121408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8DB9C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274320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F8DB9C"/>
                </a:solidFill>
                <a:latin typeface="Georgia"/>
              </a:defRPr>
            </a:pPr>
            <a:r>
              <a:t>Kijárat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9528" y="3154680"/>
            <a:ext cx="15727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>
                <a:solidFill>
                  <a:srgbClr val="ECE8DE"/>
                </a:solidFill>
                <a:latin typeface="Aptos"/>
              </a:defRPr>
            </a:pPr>
            <a:r>
              <a:t>Az utolsó fény után megjelenik a kijárat.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_wide_cinematic_3d_rendered_scene_of_a_virtual_g_batch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1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362895" y="0"/>
            <a:ext cx="1828800" cy="6858000"/>
          </a:xfrm>
          <a:prstGeom prst="rect">
            <a:avLst/>
          </a:prstGeom>
          <a:solidFill>
            <a:srgbClr val="1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8DB9C"/>
                </a:solidFill>
                <a:latin typeface="Georgia"/>
              </a:defRPr>
            </a:pPr>
            <a:r>
              <a:t>FONTOS KÓDRÉSZLET: FŐ CIKLUS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969264"/>
            <a:ext cx="2148840" cy="32004"/>
          </a:xfrm>
          <a:prstGeom prst="rect">
            <a:avLst/>
          </a:prstGeom>
          <a:solidFill>
            <a:srgbClr val="DB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0" y="877824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8AC99"/>
                </a:solidFill>
                <a:latin typeface="Aptos"/>
              </a:defRPr>
            </a:pPr>
            <a:r>
              <a:t>Az app.c választja szét a menüt és a játékot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17320"/>
            <a:ext cx="5486400" cy="3840480"/>
          </a:xfrm>
          <a:prstGeom prst="roundRect">
            <a:avLst/>
          </a:prstGeom>
          <a:solidFill>
            <a:srgbClr val="120E0C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645920"/>
            <a:ext cx="50292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DD97"/>
                </a:solidFill>
                <a:latin typeface="Consolas"/>
              </a:defRPr>
            </a:pPr>
            <a:r>
              <a:t>if (app-&gt;in_menu) {</a:t>
            </a:r>
            <a:br/>
            <a:r>
              <a:t>    render_menu(app-&gt;window,</a:t>
            </a:r>
            <a:br/>
            <a:r>
              <a:t>                app-&gt;fullscreen,</a:t>
            </a:r>
            <a:br/>
            <a:r>
              <a:t>                app-&gt;inverted_mouse);</a:t>
            </a:r>
            <a:br/>
            <a:r>
              <a:t>} else {</a:t>
            </a:r>
            <a:br/>
            <a:r>
              <a:t>    update_game(&amp;app-&gt;game, dt, key_state,</a:t>
            </a:r>
            <a:br/>
            <a:r>
              <a:t>                mouse_dx, mouse_dy, &amp;app-&gt;running);</a:t>
            </a:r>
            <a:br/>
            <a:br/>
            <a:r>
              <a:t>    render_scene(app-&gt;window, &amp;app-&gt;game,</a:t>
            </a:r>
            <a:br/>
            <a:r>
              <a:t>                 app-&gt;floor_texture,</a:t>
            </a:r>
            <a:br/>
            <a:r>
              <a:t>                 app-&gt;wall_texture,</a:t>
            </a:r>
            <a:br/>
            <a:r>
              <a:t>                 app-&gt;ceiling_texture,</a:t>
            </a:r>
            <a:br/>
            <a:r>
              <a:t>                 app-&gt;lamp_model);</a:t>
            </a:r>
            <a:br/>
            <a: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1417320"/>
            <a:ext cx="4754880" cy="3840480"/>
          </a:xfrm>
          <a:prstGeom prst="roundRect">
            <a:avLst/>
          </a:prstGeom>
          <a:solidFill>
            <a:srgbClr val="1C140F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03720" y="16916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DB9C"/>
                </a:solidFill>
                <a:latin typeface="Georgia"/>
              </a:defRPr>
            </a:pPr>
            <a:r>
              <a:t>Miért fontos?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148840"/>
            <a:ext cx="4206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CE8DE"/>
                </a:solidFill>
                <a:latin typeface="Aptos"/>
              </a:defRPr>
            </a:pPr>
            <a:r>
              <a:t>A menü és a játékállapot nem keveredik.</a:t>
            </a:r>
          </a:p>
          <a:p>
            <a:pPr>
              <a:spcAft>
                <a:spcPts val="800"/>
              </a:spcAft>
              <a:defRPr sz="1600">
                <a:solidFill>
                  <a:srgbClr val="ECE8DE"/>
                </a:solidFill>
                <a:latin typeface="Aptos"/>
              </a:defRPr>
            </a:pPr>
            <a:r>
              <a:t>Az update_game csak játék közben fut.</a:t>
            </a:r>
          </a:p>
          <a:p>
            <a:pPr>
              <a:spcAft>
                <a:spcPts val="800"/>
              </a:spcAft>
              <a:defRPr sz="1600">
                <a:solidFill>
                  <a:srgbClr val="ECE8DE"/>
                </a:solidFill>
                <a:latin typeface="Aptos"/>
              </a:defRPr>
            </a:pPr>
            <a:r>
              <a:t>A render_scene mindig a legfrissebb GameState alapján rajzol.</a:t>
            </a:r>
          </a:p>
          <a:p>
            <a:pPr>
              <a:spcAft>
                <a:spcPts val="800"/>
              </a:spcAft>
              <a:defRPr sz="1600">
                <a:solidFill>
                  <a:srgbClr val="ECE8DE"/>
                </a:solidFill>
                <a:latin typeface="Aptos"/>
              </a:defRPr>
            </a:pPr>
            <a:r>
              <a:t>A dt miatt a mozgás időalapú, nem FPS-alapú.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_dark_moody_atmospheric_interior_scene_of_a_gra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8DB9C"/>
                </a:solidFill>
                <a:latin typeface="Georgia"/>
              </a:defRPr>
            </a:pPr>
            <a:r>
              <a:t>FONTOS KÓDRÉSZLET: FÉNYRENDSZER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969264"/>
            <a:ext cx="2148840" cy="32004"/>
          </a:xfrm>
          <a:prstGeom prst="rect">
            <a:avLst/>
          </a:prstGeom>
          <a:solidFill>
            <a:srgbClr val="DB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0" y="877824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8AC99"/>
                </a:solidFill>
                <a:latin typeface="Aptos"/>
              </a:defRPr>
            </a:pPr>
            <a:r>
              <a:t>A lámpa fényereje a játékos inputjára változik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17320"/>
            <a:ext cx="5669280" cy="3840480"/>
          </a:xfrm>
          <a:prstGeom prst="roundRect">
            <a:avLst/>
          </a:prstGeom>
          <a:solidFill>
            <a:srgbClr val="120E0C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645920"/>
            <a:ext cx="521208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DD97"/>
                </a:solidFill>
                <a:latin typeface="Consolas"/>
              </a:defRPr>
            </a:pPr>
            <a:r>
              <a:t>if (increase) {</a:t>
            </a:r>
            <a:br/>
            <a:r>
              <a:t>    selected-&gt;current_intensity += 0.70f * dt;</a:t>
            </a:r>
            <a:br/>
            <a:r>
              <a:t>}</a:t>
            </a:r>
            <a:br/>
            <a:br/>
            <a:r>
              <a:t>if (decrease) {</a:t>
            </a:r>
            <a:br/>
            <a:r>
              <a:t>    selected-&gt;current_intensity -= 0.70f * dt;</a:t>
            </a:r>
            <a:br/>
            <a:r>
              <a:t>}</a:t>
            </a:r>
            <a:br/>
            <a:br/>
            <a:r>
              <a:t>if (selected-&gt;current_intensity &lt; LAMP_MIN_POWER) {</a:t>
            </a:r>
            <a:br/>
            <a:r>
              <a:t>    selected-&gt;current_intensity = LAMP_MIN_POWER;</a:t>
            </a:r>
            <a:br/>
            <a:r>
              <a:t>}</a:t>
            </a:r>
            <a:br/>
            <a:br/>
            <a:r>
              <a:t>if (selected-&gt;current_intensity &gt; LAMP_MAX_POWER) {</a:t>
            </a:r>
            <a:br/>
            <a:r>
              <a:t>    selected-&gt;current_intensity = LAMP_MAX_POWER;</a:t>
            </a:r>
            <a:br/>
            <a: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1417320"/>
            <a:ext cx="4572000" cy="3840480"/>
          </a:xfrm>
          <a:prstGeom prst="roundRect">
            <a:avLst/>
          </a:prstGeom>
          <a:solidFill>
            <a:srgbClr val="1C140F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0" y="16916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DB9C"/>
                </a:solidFill>
                <a:latin typeface="Georgia"/>
              </a:defRPr>
            </a:pPr>
            <a:r>
              <a:t>Rövid magyarázat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148840"/>
            <a:ext cx="397763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ECE8DE"/>
                </a:solidFill>
                <a:latin typeface="Aptos"/>
              </a:defRPr>
            </a:pPr>
            <a:r>
              <a:t>A játékos nem a teljes képernyő fényerejét állítja, hanem konkrét lámpák intenzitását. Ez lokális fényhatást ad, ezért a pálya térben is reagál a változásra.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_wide_cinematic_3d_rendered_scene_of_a_virtual_g_batch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8DB9C"/>
                </a:solidFill>
                <a:latin typeface="Georgia"/>
              </a:defRPr>
            </a:pPr>
            <a:r>
              <a:t>FONTOS KÓDRÉSZLET: PÁLYAÉPÍTÉS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969264"/>
            <a:ext cx="2148840" cy="32004"/>
          </a:xfrm>
          <a:prstGeom prst="rect">
            <a:avLst/>
          </a:prstGeom>
          <a:solidFill>
            <a:srgbClr val="DB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0" y="877824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8AC99"/>
                </a:solidFill>
                <a:latin typeface="Aptos"/>
              </a:defRPr>
            </a:pPr>
            <a:r>
              <a:t>A pálya folyosókból, kanyarokból és platformokból áll össze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17320"/>
            <a:ext cx="5577840" cy="3931920"/>
          </a:xfrm>
          <a:prstGeom prst="roundRect">
            <a:avLst/>
          </a:prstGeom>
          <a:solidFill>
            <a:srgbClr val="120E0C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645920"/>
            <a:ext cx="512064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DD97"/>
                </a:solidFill>
                <a:latin typeface="Consolas"/>
              </a:defRPr>
            </a:pPr>
            <a:r>
              <a:t>static void add_corridor_z(GameState* game,</a:t>
            </a:r>
            <a:br/>
            <a:r>
              <a:t>                           float x, float z,</a:t>
            </a:r>
            <a:br/>
            <a:r>
              <a:t>                           float length)</a:t>
            </a:r>
            <a:br/>
            <a:r>
              <a:t>{</a:t>
            </a:r>
            <a:br/>
            <a:r>
              <a:t>    add_floor_piece(game, vec3(x, 0.0f, z),</a:t>
            </a:r>
            <a:br/>
            <a:r>
              <a:t>                    vec3(7.0f, 0.08f, length));</a:t>
            </a:r>
            <a:br/>
            <a:br/>
            <a:r>
              <a:t>    add_ceiling_piece(game, vec3(x, 4.2f, z),</a:t>
            </a:r>
            <a:br/>
            <a:r>
              <a:t>                      vec3(7.0f, 0.08f, length));</a:t>
            </a:r>
            <a:br/>
            <a:br/>
            <a:r>
              <a:t>    add_map_object(game, OBJ_BOUNDING_WALL,</a:t>
            </a:r>
            <a:br/>
            <a:r>
              <a:t>                   vec3(x - 3.5f, 0.0f, z),</a:t>
            </a:r>
            <a:br/>
            <a:r>
              <a:t>                   vec3(0.7f, 4.2f, length));</a:t>
            </a:r>
            <a:br/>
            <a: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17320"/>
            <a:ext cx="4709160" cy="3931920"/>
          </a:xfrm>
          <a:prstGeom prst="roundRect">
            <a:avLst/>
          </a:prstGeom>
          <a:solidFill>
            <a:srgbClr val="1C140F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0" y="16916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DB9C"/>
                </a:solidFill>
                <a:latin typeface="Georgia"/>
              </a:defRPr>
            </a:pPr>
            <a:r>
              <a:t>Mit old meg?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148840"/>
            <a:ext cx="4114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CE8DE"/>
                </a:solidFill>
                <a:latin typeface="Aptos"/>
              </a:defRPr>
            </a:pPr>
            <a:r>
              <a:t>Nem kézzel rajzolt minden falat.</a:t>
            </a:r>
          </a:p>
          <a:p>
            <a:pPr>
              <a:spcAft>
                <a:spcPts val="800"/>
              </a:spcAft>
              <a:defRPr sz="1600">
                <a:solidFill>
                  <a:srgbClr val="ECE8DE"/>
                </a:solidFill>
                <a:latin typeface="Aptos"/>
              </a:defRPr>
            </a:pPr>
            <a:r>
              <a:t>A folyosók újrahasznosítható építőelemek.</a:t>
            </a:r>
          </a:p>
          <a:p>
            <a:pPr>
              <a:spcAft>
                <a:spcPts val="800"/>
              </a:spcAft>
              <a:defRPr sz="1600">
                <a:solidFill>
                  <a:srgbClr val="ECE8DE"/>
                </a:solidFill>
                <a:latin typeface="Aptos"/>
              </a:defRPr>
            </a:pPr>
            <a:r>
              <a:t>A padló, plafon és oldalfalak együtt készülnek.</a:t>
            </a:r>
          </a:p>
          <a:p>
            <a:pPr>
              <a:spcAft>
                <a:spcPts val="800"/>
              </a:spcAft>
              <a:defRPr sz="1600">
                <a:solidFill>
                  <a:srgbClr val="ECE8DE"/>
                </a:solidFill>
                <a:latin typeface="Aptos"/>
              </a:defRPr>
            </a:pPr>
            <a:r>
              <a:t>A pálya könnyen bővíthető.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_dark_moody_gothic_ui_background_scene_overall_batch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8DB9C"/>
                </a:solidFill>
                <a:latin typeface="Georgia"/>
              </a:defRPr>
            </a:pPr>
            <a:r>
              <a:t>ÜTKÖZÉS ÉS BEFEJEZÉS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969264"/>
            <a:ext cx="2148840" cy="32004"/>
          </a:xfrm>
          <a:prstGeom prst="rect">
            <a:avLst/>
          </a:prstGeom>
          <a:solidFill>
            <a:srgbClr val="DB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0" y="877824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8AC99"/>
                </a:solidFill>
                <a:latin typeface="Aptos"/>
              </a:defRPr>
            </a:pPr>
            <a:r>
              <a:t>A játék állapotai egy GameState struktúrában vannak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325880"/>
            <a:ext cx="5212080" cy="4206240"/>
          </a:xfrm>
          <a:prstGeom prst="roundRect">
            <a:avLst/>
          </a:prstGeom>
          <a:solidFill>
            <a:srgbClr val="1C140F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600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DB9C"/>
                </a:solidFill>
                <a:latin typeface="Georgia"/>
              </a:defRPr>
            </a:pPr>
            <a:r>
              <a:t>Ütközés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5740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ECE8DE"/>
                </a:solidFill>
                <a:latin typeface="Aptos"/>
              </a:defRPr>
            </a:pPr>
            <a:r>
              <a:t>A játék AABB alapú ütközésvizsgálatot használ. A falakon, oszlopokon és platformokon nem lehet indokolatlanul átmenni.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3246120"/>
            <a:ext cx="4617720" cy="1914664"/>
          </a:xfrm>
          <a:prstGeom prst="roundRect">
            <a:avLst/>
          </a:prstGeom>
          <a:solidFill>
            <a:srgbClr val="120E0C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3474720"/>
            <a:ext cx="4160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DD97"/>
                </a:solidFill>
                <a:latin typeface="Consolas"/>
              </a:defRPr>
            </a:pPr>
            <a:r>
              <a:rPr dirty="0"/>
              <a:t>if (</a:t>
            </a:r>
            <a:r>
              <a:rPr dirty="0" err="1"/>
              <a:t>sphere_aabb_intersect</a:t>
            </a:r>
            <a:r>
              <a:rPr dirty="0"/>
              <a:t>(</a:t>
            </a:r>
            <a:r>
              <a:rPr dirty="0" err="1"/>
              <a:t>new_pos</a:t>
            </a:r>
            <a:r>
              <a:rPr dirty="0"/>
              <a:t>,</a:t>
            </a:r>
            <a:br>
              <a:rPr dirty="0"/>
            </a:br>
            <a:r>
              <a:rPr dirty="0"/>
              <a:t>                         game-&gt;</a:t>
            </a:r>
            <a:r>
              <a:rPr dirty="0" err="1"/>
              <a:t>player.radius</a:t>
            </a:r>
            <a:r>
              <a:rPr dirty="0"/>
              <a:t>,</a:t>
            </a:r>
            <a:br>
              <a:rPr dirty="0"/>
            </a:br>
            <a:r>
              <a:rPr dirty="0"/>
              <a:t>                         game-&gt;colliders[</a:t>
            </a:r>
            <a:r>
              <a:rPr dirty="0" err="1"/>
              <a:t>i</a:t>
            </a:r>
            <a:r>
              <a:rPr dirty="0"/>
              <a:t>])) {</a:t>
            </a:r>
            <a:br>
              <a:rPr dirty="0"/>
            </a:br>
            <a:r>
              <a:rPr dirty="0"/>
              <a:t>    return 0;</a:t>
            </a:r>
            <a:br>
              <a:rPr dirty="0"/>
            </a:br>
            <a:r>
              <a:rPr dirty="0"/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325880"/>
            <a:ext cx="5074920" cy="4206240"/>
          </a:xfrm>
          <a:prstGeom prst="roundRect">
            <a:avLst/>
          </a:prstGeom>
          <a:solidFill>
            <a:srgbClr val="1C140F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1600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DB9C"/>
                </a:solidFill>
                <a:latin typeface="Georgia"/>
              </a:defRPr>
            </a:pPr>
            <a:r>
              <a:t>End screen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05740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ECE8DE"/>
                </a:solidFill>
                <a:latin typeface="Aptos"/>
              </a:defRPr>
            </a:pPr>
            <a:r>
              <a:t>Két végállapot van: a sötétség elkapja a játékost, vagy a kijáraton keresztül megszökik.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3246120"/>
            <a:ext cx="4480560" cy="1878980"/>
          </a:xfrm>
          <a:prstGeom prst="roundRect">
            <a:avLst/>
          </a:prstGeom>
          <a:solidFill>
            <a:srgbClr val="120E0C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0" y="347472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DD97"/>
                </a:solidFill>
                <a:latin typeface="Consolas"/>
              </a:defRPr>
            </a:pPr>
            <a:r>
              <a:t>if (game-&gt;escaped) {</a:t>
            </a:r>
            <a:br/>
            <a:r>
              <a:t>    draw_end_screen(game);</a:t>
            </a:r>
            <a:br/>
            <a:r>
              <a:t>}</a:t>
            </a:r>
            <a:br/>
            <a:br/>
            <a:r>
              <a:t>if (game-&gt;game_over) {</a:t>
            </a:r>
            <a:br/>
            <a:r>
              <a:t>    draw_end_screen(game);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_dark_cinematic_moody_interior_scene_a_long_n_batch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8DB9C"/>
                </a:solidFill>
                <a:latin typeface="Georgia"/>
              </a:defRPr>
            </a:pPr>
            <a:r>
              <a:t>TOVÁBBFEJLESZTÉSI LEHETŐSÉGEK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969264"/>
            <a:ext cx="2148840" cy="32004"/>
          </a:xfrm>
          <a:prstGeom prst="rect">
            <a:avLst/>
          </a:prstGeom>
          <a:solidFill>
            <a:srgbClr val="DB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0" y="877824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8AC99"/>
                </a:solidFill>
                <a:latin typeface="Aptos"/>
              </a:defRPr>
            </a:pPr>
            <a:r>
              <a:t>A projekt stabil alapot ad további funkciókhoz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508760"/>
            <a:ext cx="3337560" cy="1874519"/>
          </a:xfrm>
          <a:prstGeom prst="roundRect">
            <a:avLst/>
          </a:prstGeom>
          <a:solidFill>
            <a:srgbClr val="1C140F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41832" y="1691639"/>
            <a:ext cx="438912" cy="438912"/>
          </a:xfrm>
          <a:prstGeom prst="ellipse">
            <a:avLst/>
          </a:prstGeom>
          <a:solidFill>
            <a:srgbClr val="941212"/>
          </a:solidFill>
          <a:ln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1764792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8DB9C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1673351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DB9C"/>
                </a:solidFill>
                <a:latin typeface="Georgia"/>
              </a:defRPr>
            </a:pPr>
            <a:r>
              <a:t>Hangok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2093976"/>
            <a:ext cx="242316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ECE8DE"/>
                </a:solidFill>
                <a:latin typeface="Aptos"/>
              </a:defRPr>
            </a:pPr>
            <a:r>
              <a:t>Lépések, lámpazúgás, sötétség hanghatás.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508760"/>
            <a:ext cx="3337560" cy="1874519"/>
          </a:xfrm>
          <a:prstGeom prst="roundRect">
            <a:avLst/>
          </a:prstGeom>
          <a:solidFill>
            <a:srgbClr val="1C140F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99431" y="1691639"/>
            <a:ext cx="438912" cy="438912"/>
          </a:xfrm>
          <a:prstGeom prst="ellipse">
            <a:avLst/>
          </a:prstGeom>
          <a:solidFill>
            <a:srgbClr val="941212"/>
          </a:solidFill>
          <a:ln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9431" y="1764792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8DB9C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72" y="1673351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DB9C"/>
                </a:solidFill>
                <a:latin typeface="Georgia"/>
              </a:defRPr>
            </a:pPr>
            <a:r>
              <a:t>Ellenfél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8072" y="2093976"/>
            <a:ext cx="242316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ECE8DE"/>
                </a:solidFill>
                <a:latin typeface="Aptos"/>
              </a:defRPr>
            </a:pPr>
            <a:r>
              <a:t>Egyszerű AI, amely a sötét részeken üldöz.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508760"/>
            <a:ext cx="3337560" cy="1874519"/>
          </a:xfrm>
          <a:prstGeom prst="roundRect">
            <a:avLst/>
          </a:prstGeom>
          <a:solidFill>
            <a:srgbClr val="1C140F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57031" y="1691639"/>
            <a:ext cx="438912" cy="438912"/>
          </a:xfrm>
          <a:prstGeom prst="ellipse">
            <a:avLst/>
          </a:prstGeom>
          <a:solidFill>
            <a:srgbClr val="941212"/>
          </a:solidFill>
          <a:ln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57031" y="1764792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8DB9C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5672" y="1673351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DB9C"/>
                </a:solidFill>
                <a:latin typeface="Georgia"/>
              </a:defRPr>
            </a:pPr>
            <a:r>
              <a:t>Mentés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5672" y="2093976"/>
            <a:ext cx="242316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ECE8DE"/>
                </a:solidFill>
                <a:latin typeface="Aptos"/>
              </a:defRPr>
            </a:pPr>
            <a:r>
              <a:t>Pályaállapot és beállítások mentése fájlba.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06040" y="3886200"/>
            <a:ext cx="3337560" cy="1874519"/>
          </a:xfrm>
          <a:prstGeom prst="roundRect">
            <a:avLst/>
          </a:prstGeom>
          <a:solidFill>
            <a:srgbClr val="1C140F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770632" y="4069080"/>
            <a:ext cx="438912" cy="438912"/>
          </a:xfrm>
          <a:prstGeom prst="ellipse">
            <a:avLst/>
          </a:prstGeom>
          <a:solidFill>
            <a:srgbClr val="941212"/>
          </a:solidFill>
          <a:ln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70632" y="4142232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8DB9C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9272" y="4050791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DB9C"/>
                </a:solidFill>
                <a:latin typeface="Georgia"/>
              </a:defRPr>
            </a:pPr>
            <a:r>
              <a:t>Asset bővítés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9272" y="4471416"/>
            <a:ext cx="242316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ECE8DE"/>
                </a:solidFill>
                <a:latin typeface="Aptos"/>
              </a:defRPr>
            </a:pPr>
            <a:r>
              <a:t>Több múzeumi modell: szobrok, vitrinek, képek.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886200"/>
            <a:ext cx="3337560" cy="1874519"/>
          </a:xfrm>
          <a:prstGeom prst="roundRect">
            <a:avLst/>
          </a:prstGeom>
          <a:solidFill>
            <a:srgbClr val="1C140F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28231" y="4069080"/>
            <a:ext cx="438912" cy="438912"/>
          </a:xfrm>
          <a:prstGeom prst="ellipse">
            <a:avLst/>
          </a:prstGeom>
          <a:solidFill>
            <a:srgbClr val="941212"/>
          </a:solidFill>
          <a:ln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231" y="4142232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8DB9C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76872" y="4050791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DB9C"/>
                </a:solidFill>
                <a:latin typeface="Georgia"/>
              </a:defRPr>
            </a:pPr>
            <a:r>
              <a:t>Vizuális effektek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76872" y="4471416"/>
            <a:ext cx="242316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ECE8DE"/>
                </a:solidFill>
                <a:latin typeface="Aptos"/>
              </a:defRPr>
            </a:pPr>
            <a:r>
              <a:t>Árnyék, részecskék, dinamikus köd.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_dark_moody_atmospheric_interior_scene_of_a_gra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203807" y="2766618"/>
            <a:ext cx="9784080" cy="748247"/>
          </a:xfrm>
          <a:prstGeom prst="roundRect">
            <a:avLst/>
          </a:prstGeom>
          <a:solidFill>
            <a:srgbClr val="120E0C"/>
          </a:solidFill>
          <a:ln w="16510">
            <a:solidFill>
              <a:srgbClr val="D6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59302" y="2904893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8DB9C"/>
                </a:solidFill>
                <a:latin typeface="Georgia"/>
              </a:defRPr>
            </a:pPr>
            <a:r>
              <a:rPr dirty="0" err="1"/>
              <a:t>Köszönöm</a:t>
            </a:r>
            <a:r>
              <a:rPr dirty="0"/>
              <a:t> a </a:t>
            </a:r>
            <a:r>
              <a:rPr dirty="0" err="1"/>
              <a:t>figyelmet</a:t>
            </a:r>
            <a:r>
              <a:rPr dirty="0"/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993</Words>
  <Application>Microsoft Office PowerPoint</Application>
  <PresentationFormat>Widescreen</PresentationFormat>
  <Paragraphs>128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Szabolcsik Máté</cp:lastModifiedBy>
  <cp:revision>2</cp:revision>
  <dcterms:created xsi:type="dcterms:W3CDTF">2013-01-27T09:14:16Z</dcterms:created>
  <dcterms:modified xsi:type="dcterms:W3CDTF">2026-05-10T17:02:10Z</dcterms:modified>
  <cp:category/>
</cp:coreProperties>
</file>