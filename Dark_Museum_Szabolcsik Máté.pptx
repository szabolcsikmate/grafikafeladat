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567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moody_atmospheric_interior_scene_of_a_gra_batch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4160520"/>
            <a:ext cx="10332720" cy="1325880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4343400"/>
            <a:ext cx="9601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F8DB9C"/>
                </a:solidFill>
                <a:latin typeface="Georgia"/>
              </a:defRPr>
            </a:pPr>
            <a:r>
              <a:rPr dirty="0"/>
              <a:t>DARK MUSEU</a:t>
            </a:r>
            <a:r>
              <a:rPr lang="hu-HU" dirty="0"/>
              <a:t>M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828800" y="4892040"/>
            <a:ext cx="8412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8AC99"/>
                </a:solidFill>
                <a:latin typeface="Aptos"/>
              </a:defRPr>
            </a:pPr>
            <a:r>
              <a:rPr lang="hu-HU" dirty="0"/>
              <a:t>Készítette: Szabolcsik Máté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_dark_moody_gothic_ui_background_scene_overall_batch_2.png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457" y="-17621"/>
            <a:ext cx="12223018" cy="68756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8892" y="929180"/>
            <a:ext cx="26142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8DB9C"/>
                </a:solidFill>
                <a:latin typeface="Georgia"/>
              </a:defRPr>
            </a:pPr>
            <a:r>
              <a:rPr dirty="0"/>
              <a:t>KONCEPCIÓ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1580" y="1459447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42666" y="1698977"/>
            <a:ext cx="370666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rPr dirty="0" err="1"/>
              <a:t>Egy</a:t>
            </a:r>
            <a:r>
              <a:rPr dirty="0"/>
              <a:t> </a:t>
            </a:r>
            <a:r>
              <a:rPr dirty="0" err="1"/>
              <a:t>sötét</a:t>
            </a:r>
            <a:r>
              <a:rPr dirty="0"/>
              <a:t> </a:t>
            </a:r>
            <a:r>
              <a:rPr dirty="0" err="1"/>
              <a:t>múzeum</a:t>
            </a:r>
            <a:r>
              <a:rPr dirty="0"/>
              <a:t>, </a:t>
            </a:r>
            <a:r>
              <a:rPr dirty="0" err="1"/>
              <a:t>ahol</a:t>
            </a:r>
            <a:r>
              <a:rPr dirty="0"/>
              <a:t> a </a:t>
            </a:r>
            <a:r>
              <a:rPr dirty="0" err="1"/>
              <a:t>fény</a:t>
            </a:r>
            <a:r>
              <a:rPr dirty="0"/>
              <a:t> a </a:t>
            </a:r>
            <a:r>
              <a:rPr dirty="0" err="1"/>
              <a:t>túlélés</a:t>
            </a:r>
            <a:r>
              <a:rPr dirty="0"/>
              <a:t> </a:t>
            </a:r>
            <a:r>
              <a:rPr dirty="0" err="1"/>
              <a:t>feltétele</a:t>
            </a:r>
            <a:endParaRPr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9E58BC0-CE5C-ABB7-2B4B-2C715D26F10B}"/>
              </a:ext>
            </a:extLst>
          </p:cNvPr>
          <p:cNvGrpSpPr/>
          <p:nvPr/>
        </p:nvGrpSpPr>
        <p:grpSpPr>
          <a:xfrm>
            <a:off x="4382402" y="2736353"/>
            <a:ext cx="5285829" cy="1920240"/>
            <a:chOff x="4195305" y="4803897"/>
            <a:chExt cx="5285829" cy="1920240"/>
          </a:xfrm>
        </p:grpSpPr>
        <p:sp>
          <p:nvSpPr>
            <p:cNvPr id="15" name="Rounded Rectangle 14"/>
            <p:cNvSpPr/>
            <p:nvPr/>
          </p:nvSpPr>
          <p:spPr>
            <a:xfrm>
              <a:off x="4195305" y="4803897"/>
              <a:ext cx="3337560" cy="1920240"/>
            </a:xfrm>
            <a:prstGeom prst="roundRect">
              <a:avLst/>
            </a:prstGeom>
            <a:solidFill>
              <a:srgbClr val="1C140F"/>
            </a:solidFill>
            <a:ln w="16510">
              <a:solidFill>
                <a:srgbClr val="D69F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4360493" y="4992349"/>
              <a:ext cx="438912" cy="438912"/>
            </a:xfrm>
            <a:prstGeom prst="ellipse">
              <a:avLst/>
            </a:prstGeom>
            <a:solidFill>
              <a:srgbClr val="941212"/>
            </a:solidFill>
            <a:ln>
              <a:solidFill>
                <a:srgbClr val="D69F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60493" y="5065501"/>
              <a:ext cx="438912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600" b="1">
                  <a:solidFill>
                    <a:srgbClr val="F8DB9C"/>
                  </a:solidFill>
                  <a:latin typeface="Georgia"/>
                </a:defRPr>
              </a:pPr>
              <a:r>
                <a:t>2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909134" y="4974061"/>
              <a:ext cx="45720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 sz="1500" b="1">
                  <a:solidFill>
                    <a:srgbClr val="F8DB9C"/>
                  </a:solidFill>
                  <a:latin typeface="Georgia"/>
                </a:defRPr>
              </a:pPr>
              <a:r>
                <a:t>Feszültség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909134" y="5394685"/>
              <a:ext cx="2423160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 sz="1400">
                  <a:solidFill>
                    <a:srgbClr val="ECE8DE"/>
                  </a:solidFill>
                  <a:latin typeface="Aptos"/>
                </a:defRPr>
              </a:pPr>
              <a:r>
                <a:t>Az idő visszaszámlál. Ha lejár, a sötétség elkapja a játékost.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1917589-5490-8F62-4D8D-0B9CF218C2E1}"/>
              </a:ext>
            </a:extLst>
          </p:cNvPr>
          <p:cNvGrpSpPr/>
          <p:nvPr/>
        </p:nvGrpSpPr>
        <p:grpSpPr>
          <a:xfrm>
            <a:off x="8109180" y="2750565"/>
            <a:ext cx="3337560" cy="1920240"/>
            <a:chOff x="7853502" y="4809469"/>
            <a:chExt cx="3337560" cy="1920240"/>
          </a:xfrm>
        </p:grpSpPr>
        <p:sp>
          <p:nvSpPr>
            <p:cNvPr id="20" name="Rounded Rectangle 19"/>
            <p:cNvSpPr/>
            <p:nvPr/>
          </p:nvSpPr>
          <p:spPr>
            <a:xfrm>
              <a:off x="7853502" y="4809469"/>
              <a:ext cx="3337560" cy="1920240"/>
            </a:xfrm>
            <a:prstGeom prst="roundRect">
              <a:avLst/>
            </a:prstGeom>
            <a:solidFill>
              <a:srgbClr val="1C140F"/>
            </a:solidFill>
            <a:ln w="16510">
              <a:solidFill>
                <a:srgbClr val="D69F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Oval 20"/>
            <p:cNvSpPr/>
            <p:nvPr/>
          </p:nvSpPr>
          <p:spPr>
            <a:xfrm>
              <a:off x="8018093" y="4992349"/>
              <a:ext cx="438912" cy="438912"/>
            </a:xfrm>
            <a:prstGeom prst="ellipse">
              <a:avLst/>
            </a:prstGeom>
            <a:solidFill>
              <a:srgbClr val="941212"/>
            </a:solidFill>
            <a:ln>
              <a:solidFill>
                <a:srgbClr val="D69F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018093" y="5065501"/>
              <a:ext cx="438912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600" b="1">
                  <a:solidFill>
                    <a:srgbClr val="F8DB9C"/>
                  </a:solidFill>
                  <a:latin typeface="Georgia"/>
                </a:defRPr>
              </a:pPr>
              <a:r>
                <a:t>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566734" y="5394685"/>
              <a:ext cx="2423160" cy="1234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 sz="1400">
                  <a:solidFill>
                    <a:srgbClr val="ECE8DE"/>
                  </a:solidFill>
                  <a:latin typeface="Aptos"/>
                </a:defRPr>
              </a:pPr>
              <a:r>
                <a:t>Folyosók, kanyarok, parkour részek és fényalapú útvonalvezetés váltják egymást.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893BC93-F9AE-3FF7-DD76-17472D815A85}"/>
              </a:ext>
            </a:extLst>
          </p:cNvPr>
          <p:cNvGrpSpPr/>
          <p:nvPr/>
        </p:nvGrpSpPr>
        <p:grpSpPr>
          <a:xfrm>
            <a:off x="776530" y="2750565"/>
            <a:ext cx="3337560" cy="1920240"/>
            <a:chOff x="538302" y="4809469"/>
            <a:chExt cx="3337560" cy="1920240"/>
          </a:xfrm>
        </p:grpSpPr>
        <p:sp>
          <p:nvSpPr>
            <p:cNvPr id="10" name="Rounded Rectangle 9"/>
            <p:cNvSpPr/>
            <p:nvPr/>
          </p:nvSpPr>
          <p:spPr>
            <a:xfrm>
              <a:off x="538302" y="4809469"/>
              <a:ext cx="3337560" cy="1920240"/>
            </a:xfrm>
            <a:prstGeom prst="roundRect">
              <a:avLst/>
            </a:prstGeom>
            <a:solidFill>
              <a:srgbClr val="1C140F"/>
            </a:solidFill>
            <a:ln w="16510">
              <a:solidFill>
                <a:srgbClr val="D69F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Oval 10"/>
            <p:cNvSpPr/>
            <p:nvPr/>
          </p:nvSpPr>
          <p:spPr>
            <a:xfrm>
              <a:off x="702894" y="4992349"/>
              <a:ext cx="438912" cy="438912"/>
            </a:xfrm>
            <a:prstGeom prst="ellipse">
              <a:avLst/>
            </a:prstGeom>
            <a:solidFill>
              <a:srgbClr val="941212"/>
            </a:solidFill>
            <a:ln>
              <a:solidFill>
                <a:srgbClr val="D69F3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02894" y="5065501"/>
              <a:ext cx="438912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1600" b="1">
                  <a:solidFill>
                    <a:srgbClr val="F8DB9C"/>
                  </a:solidFill>
                  <a:latin typeface="Georgia"/>
                </a:defRPr>
              </a:pPr>
              <a:r>
                <a:t>1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51534" y="5394685"/>
              <a:ext cx="2423160" cy="1234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defRPr sz="1400">
                  <a:solidFill>
                    <a:srgbClr val="ECE8DE"/>
                  </a:solidFill>
                  <a:latin typeface="Aptos"/>
                </a:defRPr>
              </a:pPr>
              <a:r>
                <a:t>A játékos végighalad a labirintuson, aktiválja a lámpákat, majd eléri a kijáratot.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1489762" y="2934791"/>
            <a:ext cx="55449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rPr dirty="0" err="1"/>
              <a:t>Cél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822412" y="2982678"/>
            <a:ext cx="153965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rPr dirty="0" err="1"/>
              <a:t>Változatosság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2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6858000"/>
          </a:xfrm>
          <a:prstGeom prst="rect">
            <a:avLst/>
          </a:prstGeom>
          <a:solidFill>
            <a:srgbClr val="12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44215" y="172621"/>
            <a:ext cx="35188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rPr dirty="0"/>
              <a:t>VIZUÁLIS IRÁNY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6737" y="691937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91381" y="834110"/>
            <a:ext cx="99803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rPr lang="hu-HU" dirty="0"/>
              <a:t>Elképzelés:</a:t>
            </a:r>
            <a:endParaRPr dirty="0"/>
          </a:p>
        </p:txBody>
      </p:sp>
      <p:pic>
        <p:nvPicPr>
          <p:cNvPr id="8" name="Picture 7" descr="a_dark_moody_atmospheric_interior_scene_of_a_gra_batch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3611880" cy="2331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" y="1280160"/>
            <a:ext cx="3611880" cy="2331720"/>
          </a:xfrm>
          <a:prstGeom prst="rect">
            <a:avLst/>
          </a:prstGeom>
          <a:noFill/>
          <a:ln w="1524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_dark_moody_gothic_ui_background_scene_overall_batch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80160"/>
            <a:ext cx="3611880" cy="2331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297680" y="1280160"/>
            <a:ext cx="3611880" cy="2331720"/>
          </a:xfrm>
          <a:prstGeom prst="rect">
            <a:avLst/>
          </a:prstGeom>
          <a:noFill/>
          <a:ln w="1524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_dark_cinematic_moody_interior_scene_a_long_n_batch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280160"/>
            <a:ext cx="3611880" cy="23317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955279" y="1280160"/>
            <a:ext cx="3611880" cy="2331720"/>
          </a:xfrm>
          <a:prstGeom prst="rect">
            <a:avLst/>
          </a:prstGeom>
          <a:noFill/>
          <a:ln w="1524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60120" y="3977639"/>
            <a:ext cx="10287000" cy="150876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4206240"/>
            <a:ext cx="9784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CE8DE"/>
                </a:solidFill>
                <a:latin typeface="Aptos"/>
              </a:defRPr>
            </a:pPr>
            <a:r>
              <a:t>Fekete és barna alap, arany és vörös hangsúlyokkal</a:t>
            </a:r>
          </a:p>
          <a:p>
            <a:pPr>
              <a:spcAft>
                <a:spcPts val="800"/>
              </a:spcAft>
              <a:defRPr sz="1800">
                <a:solidFill>
                  <a:srgbClr val="ECE8DE"/>
                </a:solidFill>
                <a:latin typeface="Aptos"/>
              </a:defRPr>
            </a:pPr>
            <a:r>
              <a:t>Kevés UI elem, erős kontraszt, jól olvasható menük</a:t>
            </a:r>
          </a:p>
          <a:p>
            <a:pPr>
              <a:spcAft>
                <a:spcPts val="800"/>
              </a:spcAft>
              <a:defRPr sz="1800">
                <a:solidFill>
                  <a:srgbClr val="ECE8DE"/>
                </a:solidFill>
                <a:latin typeface="Aptos"/>
              </a:defRPr>
            </a:pPr>
            <a:r>
              <a:t>A lámpák meleg fényként vezetik a játékost a sötét pályán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5151D-492B-830A-33B0-1A70539D9BC8}"/>
              </a:ext>
            </a:extLst>
          </p:cNvPr>
          <p:cNvSpPr txBox="1"/>
          <p:nvPr/>
        </p:nvSpPr>
        <p:spPr>
          <a:xfrm>
            <a:off x="2890396" y="5932449"/>
            <a:ext cx="330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Ui</a:t>
            </a:r>
            <a:r>
              <a:rPr lang="hu-HU" dirty="0">
                <a:solidFill>
                  <a:schemeClr val="bg1"/>
                </a:solidFill>
              </a:rPr>
              <a:t>: Majdnem összejött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wide_cinematic_3d_rendered_scene_of_a_virtual_g_batch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FELHASZNÁLT TECHNOLÓGIÁK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60120" y="1417320"/>
          <a:ext cx="1024127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8DB9C"/>
                          </a:solidFill>
                          <a:latin typeface="Aptos"/>
                        </a:defRPr>
                      </a:pPr>
                      <a:r>
                        <a:t>Technológia</a:t>
                      </a:r>
                    </a:p>
                  </a:txBody>
                  <a:tcPr>
                    <a:solidFill>
                      <a:srgbClr val="94121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8DB9C"/>
                          </a:solidFill>
                          <a:latin typeface="Aptos"/>
                        </a:defRPr>
                      </a:pPr>
                      <a:r>
                        <a:t>Feladat a játékban</a:t>
                      </a:r>
                    </a:p>
                  </a:txBody>
                  <a:tcPr>
                    <a:solidFill>
                      <a:srgbClr val="9412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Játéklogika, állapotkezelés, fájlstruktúra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SDL2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Ablak, eseménykezelés, egér és billentyűzet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OpenGL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3D kirajzolás, fények, textúrák, UI overlay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GLB modell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A lámpa külön modellfájlból töltődik be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BMP textúrák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Fal, padló és plafon felületek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moody_gothic_ui_background_scene_overall_batch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PROGRAM FELÉPÍTÉSE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 fájlok külön felelősségeket kapnak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234440"/>
            <a:ext cx="2743200" cy="475488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8DB9C"/>
                </a:solidFill>
                <a:latin typeface="Consolas"/>
              </a:defRPr>
            </a:pPr>
            <a:r>
              <a:t>app.c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289304"/>
            <a:ext cx="7223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CE8DE"/>
                </a:solidFill>
                <a:latin typeface="Aptos"/>
              </a:defRPr>
            </a:pPr>
            <a:r>
              <a:t>Ablak, fő ciklus, input, menüállapot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47872" y="1481328"/>
            <a:ext cx="164592" cy="18288"/>
          </a:xfrm>
          <a:prstGeom prst="rect">
            <a:avLst/>
          </a:prstGeom>
          <a:solidFill>
            <a:srgbClr val="D6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77240" y="1901952"/>
            <a:ext cx="2743200" cy="475488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011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8DB9C"/>
                </a:solidFill>
                <a:latin typeface="Consolas"/>
              </a:defRPr>
            </a:pPr>
            <a:r>
              <a:t>game.c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1956816"/>
            <a:ext cx="7223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CE8DE"/>
                </a:solidFill>
                <a:latin typeface="Aptos"/>
              </a:defRPr>
            </a:pPr>
            <a:r>
              <a:t>Játékszabályok, pálya, játékos, lámpák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7872" y="2148840"/>
            <a:ext cx="164592" cy="18288"/>
          </a:xfrm>
          <a:prstGeom prst="rect">
            <a:avLst/>
          </a:prstGeom>
          <a:solidFill>
            <a:srgbClr val="D6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77240" y="2569464"/>
            <a:ext cx="2743200" cy="475488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267919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8DB9C"/>
                </a:solidFill>
                <a:latin typeface="Consolas"/>
              </a:defRPr>
            </a:pPr>
            <a:r>
              <a:t>render.c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624328"/>
            <a:ext cx="7223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CE8DE"/>
                </a:solidFill>
                <a:latin typeface="Aptos"/>
              </a:defRPr>
            </a:pPr>
            <a:r>
              <a:t>3D jelenet, UI, fények, menü, end screen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7872" y="2816352"/>
            <a:ext cx="164592" cy="18288"/>
          </a:xfrm>
          <a:prstGeom prst="rect">
            <a:avLst/>
          </a:prstGeom>
          <a:solidFill>
            <a:srgbClr val="D6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77240" y="3236976"/>
            <a:ext cx="2743200" cy="475488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334670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8DB9C"/>
                </a:solidFill>
                <a:latin typeface="Consolas"/>
              </a:defRPr>
            </a:pPr>
            <a:r>
              <a:t>collision.c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3291840"/>
            <a:ext cx="7223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CE8DE"/>
                </a:solidFill>
                <a:latin typeface="Aptos"/>
              </a:defRPr>
            </a:pPr>
            <a:r>
              <a:t>AABB alapú ütközésvizsgálat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7872" y="3483864"/>
            <a:ext cx="164592" cy="18288"/>
          </a:xfrm>
          <a:prstGeom prst="rect">
            <a:avLst/>
          </a:prstGeom>
          <a:solidFill>
            <a:srgbClr val="D6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77240" y="3904487"/>
            <a:ext cx="2743200" cy="475488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014215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8DB9C"/>
                </a:solidFill>
                <a:latin typeface="Consolas"/>
              </a:defRPr>
            </a:pPr>
            <a:r>
              <a:t>model.c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3959351"/>
            <a:ext cx="7223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CE8DE"/>
                </a:solidFill>
                <a:latin typeface="Aptos"/>
              </a:defRPr>
            </a:pPr>
            <a:r>
              <a:t>GLB modell betöltése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7872" y="4151375"/>
            <a:ext cx="164592" cy="18288"/>
          </a:xfrm>
          <a:prstGeom prst="rect">
            <a:avLst/>
          </a:prstGeom>
          <a:solidFill>
            <a:srgbClr val="D6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77240" y="4572000"/>
            <a:ext cx="2743200" cy="475488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468172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8DB9C"/>
                </a:solidFill>
                <a:latin typeface="Consolas"/>
              </a:defRPr>
            </a:pPr>
            <a:r>
              <a:t>texture.c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4626864"/>
            <a:ext cx="7223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CE8DE"/>
                </a:solidFill>
                <a:latin typeface="Aptos"/>
              </a:defRPr>
            </a:pPr>
            <a:r>
              <a:t>Textúrák betöltése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7872" y="4818888"/>
            <a:ext cx="164592" cy="18288"/>
          </a:xfrm>
          <a:prstGeom prst="rect">
            <a:avLst/>
          </a:prstGeom>
          <a:solidFill>
            <a:srgbClr val="D6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85800" y="5486400"/>
            <a:ext cx="10698480" cy="502920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0120" y="5605272"/>
            <a:ext cx="10149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8AC99"/>
                </a:solidFill>
                <a:latin typeface="Aptos"/>
              </a:defRPr>
            </a:pPr>
            <a:r>
              <a:t>A cél az volt, hogy a renderelés, a játéklogika és az input ne keveredjen össze.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2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6858000"/>
          </a:xfrm>
          <a:prstGeom prst="rect">
            <a:avLst/>
          </a:prstGeom>
          <a:solidFill>
            <a:srgbClr val="120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IRÁNYÍTÁS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 kezelés first person játékokhoz hasonló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280160"/>
          <a:ext cx="97840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8DB9C"/>
                          </a:solidFill>
                          <a:latin typeface="Aptos"/>
                        </a:defRPr>
                      </a:pPr>
                      <a:r>
                        <a:t>Billentyű / egér</a:t>
                      </a:r>
                    </a:p>
                  </a:txBody>
                  <a:tcPr>
                    <a:solidFill>
                      <a:srgbClr val="94121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8DB9C"/>
                          </a:solidFill>
                          <a:latin typeface="Aptos"/>
                        </a:defRPr>
                      </a:pPr>
                      <a:r>
                        <a:t>Funkció</a:t>
                      </a:r>
                    </a:p>
                  </a:txBody>
                  <a:tcPr>
                    <a:solidFill>
                      <a:srgbClr val="9412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W A S D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Mozgás a pályán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Egér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Kamera forgatása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SPACE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Ugrás, parkour részeknél fontos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E / + / Fel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Lámpa fényerejének növelése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Q / - / Le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Lámpa fényerejének csökkentése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ESC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Menü vagy kilépés állapottól függően</a:t>
                      </a:r>
                    </a:p>
                  </a:txBody>
                  <a:tcPr>
                    <a:solidFill>
                      <a:srgbClr val="110D0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ECE8DE"/>
                          </a:solidFill>
                          <a:latin typeface="Aptos"/>
                        </a:defRPr>
                      </a:pPr>
                      <a:r>
                        <a:t>Használati útmutató megjelenítése</a:t>
                      </a:r>
                    </a:p>
                  </a:txBody>
                  <a:tcPr>
                    <a:solidFill>
                      <a:srgbClr val="1C1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cinematic_moody_interior_scene_a_long_n_batch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JÁTÉKMENET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5800" y="1828800"/>
            <a:ext cx="1938528" cy="242316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389888" y="2029968"/>
            <a:ext cx="530352" cy="53035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89888" y="2121408"/>
            <a:ext cx="530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8DB9C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1664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F8DB9C"/>
                </a:solidFill>
                <a:latin typeface="Georgia"/>
              </a:defRPr>
            </a:pPr>
            <a:r>
              <a:t>Indulás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54680"/>
            <a:ext cx="1572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>
                <a:solidFill>
                  <a:srgbClr val="ECE8DE"/>
                </a:solidFill>
                <a:latin typeface="Aptos"/>
              </a:defRPr>
            </a:pPr>
            <a:r>
              <a:t>A játékos belép a sötét múzeumba.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53512" y="1828800"/>
            <a:ext cx="1938528" cy="242316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657600" y="2029968"/>
            <a:ext cx="530352" cy="53035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0" y="2121408"/>
            <a:ext cx="530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8DB9C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743200"/>
            <a:ext cx="1664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F8DB9C"/>
                </a:solidFill>
                <a:latin typeface="Georgia"/>
              </a:defRPr>
            </a:pPr>
            <a:r>
              <a:t>Lámpa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6392" y="3154680"/>
            <a:ext cx="1572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>
                <a:solidFill>
                  <a:srgbClr val="ECE8DE"/>
                </a:solidFill>
                <a:latin typeface="Aptos"/>
              </a:defRPr>
            </a:pPr>
            <a:r>
              <a:t>Ránéz és feltölti a fényt.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21224" y="1828800"/>
            <a:ext cx="1938528" cy="242316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25312" y="2029968"/>
            <a:ext cx="530352" cy="53035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25312" y="2121408"/>
            <a:ext cx="530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8DB9C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2743200"/>
            <a:ext cx="1664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F8DB9C"/>
                </a:solidFill>
                <a:latin typeface="Georgia"/>
              </a:defRPr>
            </a:pPr>
            <a:r>
              <a:t>Továbbhaladás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4" y="3154680"/>
            <a:ext cx="1572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>
                <a:solidFill>
                  <a:srgbClr val="ECE8DE"/>
                </a:solidFill>
                <a:latin typeface="Aptos"/>
              </a:defRPr>
            </a:pPr>
            <a:r>
              <a:t>A fény új biztonságos zónát 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88936" y="1828800"/>
            <a:ext cx="1938528" cy="242316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193023" y="2029968"/>
            <a:ext cx="530352" cy="53035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93023" y="2121408"/>
            <a:ext cx="530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8DB9C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6096" y="2743200"/>
            <a:ext cx="1664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F8DB9C"/>
                </a:solidFill>
                <a:latin typeface="Georgia"/>
              </a:defRPr>
            </a:pPr>
            <a:r>
              <a:t>Parkour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5" y="3154680"/>
            <a:ext cx="1572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>
                <a:solidFill>
                  <a:srgbClr val="ECE8DE"/>
                </a:solidFill>
                <a:latin typeface="Aptos"/>
              </a:defRPr>
            </a:pPr>
            <a:r>
              <a:t>Néhány helyen ugrani kell.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56648" y="1828800"/>
            <a:ext cx="1938528" cy="242316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460736" y="2029968"/>
            <a:ext cx="530352" cy="53035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60736" y="2121408"/>
            <a:ext cx="5303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8DB9C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93808" y="2743200"/>
            <a:ext cx="1664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F8DB9C"/>
                </a:solidFill>
                <a:latin typeface="Georgia"/>
              </a:defRPr>
            </a:pPr>
            <a:r>
              <a:t>Kijárat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9528" y="3154680"/>
            <a:ext cx="1572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>
                <a:solidFill>
                  <a:srgbClr val="ECE8DE"/>
                </a:solidFill>
                <a:latin typeface="Aptos"/>
              </a:defRPr>
            </a:pPr>
            <a:r>
              <a:t>Az utolsó fény után megjelenik a kijárat.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wide_cinematic_3d_rendered_scene_of_a_virtual_g_batch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FONTOS KÓDRÉSZLET: FŐ CIKLUS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Az app.c választja szét a menüt és a játékot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17320"/>
            <a:ext cx="5486400" cy="3840480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45920"/>
            <a:ext cx="50292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DD97"/>
                </a:solidFill>
                <a:latin typeface="Consolas"/>
              </a:defRPr>
            </a:pPr>
            <a:r>
              <a:t>if (app-&gt;in_menu) {</a:t>
            </a:r>
            <a:br/>
            <a:r>
              <a:t>    render_menu(app-&gt;window,</a:t>
            </a:r>
            <a:br/>
            <a:r>
              <a:t>                app-&gt;fullscreen,</a:t>
            </a:r>
            <a:br/>
            <a:r>
              <a:t>                app-&gt;inverted_mouse);</a:t>
            </a:r>
            <a:br/>
            <a:r>
              <a:t>} else {</a:t>
            </a:r>
            <a:br/>
            <a:r>
              <a:t>    update_game(&amp;app-&gt;game, dt, key_state,</a:t>
            </a:r>
            <a:br/>
            <a:r>
              <a:t>                mouse_dx, mouse_dy, &amp;app-&gt;running);</a:t>
            </a:r>
            <a:br/>
            <a:br/>
            <a:r>
              <a:t>    render_scene(app-&gt;window, &amp;app-&gt;game,</a:t>
            </a:r>
            <a:br/>
            <a:r>
              <a:t>                 app-&gt;floor_texture,</a:t>
            </a:r>
            <a:br/>
            <a:r>
              <a:t>                 app-&gt;wall_texture,</a:t>
            </a:r>
            <a:br/>
            <a:r>
              <a:t>                 app-&gt;ceiling_texture,</a:t>
            </a:r>
            <a:br/>
            <a:r>
              <a:t>                 app-&gt;lamp_model);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417320"/>
            <a:ext cx="4754880" cy="384048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03720" y="16916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DB9C"/>
                </a:solidFill>
                <a:latin typeface="Georgia"/>
              </a:defRPr>
            </a:pPr>
            <a:r>
              <a:t>Miért fontos?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14884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 menü és a játékállapot nem keveredik.</a:t>
            </a:r>
          </a:p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Az update_game csak játék közben fut.</a:t>
            </a:r>
          </a:p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 render_scene mindig a legfrissebb GameState alapján rajzol.</a:t>
            </a:r>
          </a:p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 dt miatt a mozgás időalapú, nem FPS-alapú.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moody_atmospheric_interior_scene_of_a_gra_batch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FONTOS KÓDRÉSZLET: FÉNYRENDSZER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 lámpa fényereje a játékos inputjára változik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17320"/>
            <a:ext cx="5669280" cy="3840480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45920"/>
            <a:ext cx="521208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DD97"/>
                </a:solidFill>
                <a:latin typeface="Consolas"/>
              </a:defRPr>
            </a:pPr>
            <a:r>
              <a:t>if (increase) {</a:t>
            </a:r>
            <a:br/>
            <a:r>
              <a:t>    selected-&gt;current_intensity += 0.70f * dt;</a:t>
            </a:r>
            <a:br/>
            <a:r>
              <a:t>}</a:t>
            </a:r>
            <a:br/>
            <a:br/>
            <a:r>
              <a:t>if (decrease) {</a:t>
            </a:r>
            <a:br/>
            <a:r>
              <a:t>    selected-&gt;current_intensity -= 0.70f * dt;</a:t>
            </a:r>
            <a:br/>
            <a:r>
              <a:t>}</a:t>
            </a:r>
            <a:br/>
            <a:br/>
            <a:r>
              <a:t>if (selected-&gt;current_intensity &lt; LAMP_MIN_POWER) {</a:t>
            </a:r>
            <a:br/>
            <a:r>
              <a:t>    selected-&gt;current_intensity = LAMP_MIN_POWER;</a:t>
            </a:r>
            <a:br/>
            <a:r>
              <a:t>}</a:t>
            </a:r>
            <a:br/>
            <a:br/>
            <a:r>
              <a:t>if (selected-&gt;current_intensity &gt; LAMP_MAX_POWER) {</a:t>
            </a:r>
            <a:br/>
            <a:r>
              <a:t>    selected-&gt;current_intensity = LAMP_MAX_POWER;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417320"/>
            <a:ext cx="4572000" cy="384048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40880" y="16916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DB9C"/>
                </a:solidFill>
                <a:latin typeface="Georgia"/>
              </a:defRPr>
            </a:pPr>
            <a:r>
              <a:t>Rövid magyarázat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148840"/>
            <a:ext cx="3977639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CE8DE"/>
                </a:solidFill>
                <a:latin typeface="Aptos"/>
              </a:defRPr>
            </a:pPr>
            <a:r>
              <a:t>A játékos nem a teljes képernyő fényerejét állítja, hanem konkrét lámpák intenzitását. Ez lokális fényhatást ad, ezért a pálya térben is reagál a változásra.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wide_cinematic_3d_rendered_scene_of_a_virtual_g_batch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FONTOS KÓDRÉSZLET: PÁLYAÉPÍTÉS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 pálya folyosókból, kanyarokból és platformokból áll össze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17320"/>
            <a:ext cx="5577840" cy="3931920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45920"/>
            <a:ext cx="5120640" cy="3520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DD97"/>
                </a:solidFill>
                <a:latin typeface="Consolas"/>
              </a:defRPr>
            </a:pPr>
            <a:r>
              <a:t>static void add_corridor_z(GameState* game,</a:t>
            </a:r>
            <a:br/>
            <a:r>
              <a:t>                           float x, float z,</a:t>
            </a:r>
            <a:br/>
            <a:r>
              <a:t>                           float length)</a:t>
            </a:r>
            <a:br/>
            <a:r>
              <a:t>{</a:t>
            </a:r>
            <a:br/>
            <a:r>
              <a:t>    add_floor_piece(game, vec3(x, 0.0f, z),</a:t>
            </a:r>
            <a:br/>
            <a:r>
              <a:t>                    vec3(7.0f, 0.08f, length));</a:t>
            </a:r>
            <a:br/>
            <a:br/>
            <a:r>
              <a:t>    add_ceiling_piece(game, vec3(x, 4.2f, z),</a:t>
            </a:r>
            <a:br/>
            <a:r>
              <a:t>                      vec3(7.0f, 0.08f, length));</a:t>
            </a:r>
            <a:br/>
            <a:br/>
            <a:r>
              <a:t>    add_map_object(game, OBJ_BOUNDING_WALL,</a:t>
            </a:r>
            <a:br/>
            <a:r>
              <a:t>                   vec3(x - 3.5f, 0.0f, z),</a:t>
            </a:r>
            <a:br/>
            <a:r>
              <a:t>                   vec3(0.7f, 4.2f, length));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417320"/>
            <a:ext cx="4709160" cy="393192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0" y="16916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DB9C"/>
                </a:solidFill>
                <a:latin typeface="Georgia"/>
              </a:defRPr>
            </a:pPr>
            <a:r>
              <a:t>Mit old meg?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14884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Nem kézzel rajzolt minden falat.</a:t>
            </a:r>
          </a:p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 folyosók újrahasznosítható építőelemek.</a:t>
            </a:r>
          </a:p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 padló, plafon és oldalfalak együtt készülnek.</a:t>
            </a:r>
          </a:p>
          <a:p>
            <a:pPr>
              <a:spcAft>
                <a:spcPts val="800"/>
              </a:spcAft>
              <a:defRPr sz="1600">
                <a:solidFill>
                  <a:srgbClr val="ECE8DE"/>
                </a:solidFill>
                <a:latin typeface="Aptos"/>
              </a:defRPr>
            </a:pPr>
            <a:r>
              <a:t>A pálya könnyen bővíthető.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moody_gothic_ui_background_scene_overall_batch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ÜTKÖZÉS ÉS BEFEJEZÉS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 játék állapotai egy GameState struktúrában vannak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325880"/>
            <a:ext cx="5212080" cy="420624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6002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DB9C"/>
                </a:solidFill>
                <a:latin typeface="Georgia"/>
              </a:defRPr>
            </a:pPr>
            <a:r>
              <a:t>Ütközés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5740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ECE8DE"/>
                </a:solidFill>
                <a:latin typeface="Aptos"/>
              </a:defRPr>
            </a:pPr>
            <a:r>
              <a:t>A játék AABB alapú ütközésvizsgálatot használ. A falakon, oszlopokon és platformokon nem lehet indokolatlanul átmenni.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3246120"/>
            <a:ext cx="4617720" cy="1914664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3474720"/>
            <a:ext cx="4160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DD97"/>
                </a:solidFill>
                <a:latin typeface="Consolas"/>
              </a:defRPr>
            </a:pPr>
            <a:r>
              <a:rPr dirty="0"/>
              <a:t>if (</a:t>
            </a:r>
            <a:r>
              <a:rPr dirty="0" err="1"/>
              <a:t>sphere_aabb_intersect</a:t>
            </a:r>
            <a:r>
              <a:rPr dirty="0"/>
              <a:t>(</a:t>
            </a:r>
            <a:r>
              <a:rPr dirty="0" err="1"/>
              <a:t>new_pos</a:t>
            </a:r>
            <a:r>
              <a:rPr dirty="0"/>
              <a:t>,</a:t>
            </a:r>
            <a:br>
              <a:rPr dirty="0"/>
            </a:br>
            <a:r>
              <a:rPr dirty="0"/>
              <a:t>                         game-&gt;</a:t>
            </a:r>
            <a:r>
              <a:rPr dirty="0" err="1"/>
              <a:t>player.radius</a:t>
            </a:r>
            <a:r>
              <a:rPr dirty="0"/>
              <a:t>,</a:t>
            </a:r>
            <a:br>
              <a:rPr dirty="0"/>
            </a:br>
            <a:r>
              <a:rPr dirty="0"/>
              <a:t>                         game-&gt;colliders[</a:t>
            </a:r>
            <a:r>
              <a:rPr dirty="0" err="1"/>
              <a:t>i</a:t>
            </a:r>
            <a:r>
              <a:rPr dirty="0"/>
              <a:t>])) {</a:t>
            </a:r>
            <a:br>
              <a:rPr dirty="0"/>
            </a:br>
            <a:r>
              <a:rPr dirty="0"/>
              <a:t>    return 0;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325880"/>
            <a:ext cx="5074920" cy="4206240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9400" y="16002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8DB9C"/>
                </a:solidFill>
                <a:latin typeface="Georgia"/>
              </a:defRPr>
            </a:pPr>
            <a:r>
              <a:t>End screen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ECE8DE"/>
                </a:solidFill>
                <a:latin typeface="Aptos"/>
              </a:defRPr>
            </a:pPr>
            <a:r>
              <a:t>Két végállapot van: a sötétség elkapja a játékost, vagy a kijáraton keresztül megszökik.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246120"/>
            <a:ext cx="4480560" cy="1878980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0" y="347472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DD97"/>
                </a:solidFill>
                <a:latin typeface="Consolas"/>
              </a:defRPr>
            </a:pPr>
            <a:r>
              <a:t>if (game-&gt;escaped) {</a:t>
            </a:r>
            <a:br/>
            <a:r>
              <a:t>    draw_end_screen(game);</a:t>
            </a:r>
            <a:br/>
            <a:r>
              <a:t>}</a:t>
            </a:r>
            <a:br/>
            <a:br/>
            <a:r>
              <a:t>if (game-&gt;game_over) {</a:t>
            </a:r>
            <a:br/>
            <a:r>
              <a:t>    draw_end_screen(game);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cinematic_moody_interior_scene_a_long_n_batch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320040"/>
            <a:ext cx="109728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8DB9C"/>
                </a:solidFill>
                <a:latin typeface="Georgia"/>
              </a:defRPr>
            </a:pPr>
            <a:r>
              <a:t>TOVÁBBFEJLESZTÉSI LEHETŐSÉGEK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969264"/>
            <a:ext cx="2148840" cy="32004"/>
          </a:xfrm>
          <a:prstGeom prst="rect">
            <a:avLst/>
          </a:prstGeom>
          <a:solidFill>
            <a:srgbClr val="DB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877824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8AC99"/>
                </a:solidFill>
                <a:latin typeface="Aptos"/>
              </a:defRPr>
            </a:pPr>
            <a:r>
              <a:t>A projekt stabil alapot ad további funkciókhoz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3337560" cy="1874519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41832" y="1691639"/>
            <a:ext cx="438912" cy="43891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1832" y="176479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8DB9C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1673351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t>Hangok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0472" y="2093976"/>
            <a:ext cx="242316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CE8DE"/>
                </a:solidFill>
                <a:latin typeface="Aptos"/>
              </a:defRPr>
            </a:pPr>
            <a:r>
              <a:t>Lépések, lámpazúgás, sötétség hanghatás.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508760"/>
            <a:ext cx="3337560" cy="1874519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599431" y="1691639"/>
            <a:ext cx="438912" cy="43891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99431" y="176479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8DB9C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1673351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t>Ellenfél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8072" y="2093976"/>
            <a:ext cx="242316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CE8DE"/>
                </a:solidFill>
                <a:latin typeface="Aptos"/>
              </a:defRPr>
            </a:pPr>
            <a:r>
              <a:t>Egyszerű AI, amely a sötét részeken üldöz.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508760"/>
            <a:ext cx="3337560" cy="1874519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257031" y="1691639"/>
            <a:ext cx="438912" cy="43891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57031" y="176479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8DB9C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5672" y="1673351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t>Mentés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05672" y="2093976"/>
            <a:ext cx="242316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CE8DE"/>
                </a:solidFill>
                <a:latin typeface="Aptos"/>
              </a:defRPr>
            </a:pPr>
            <a:r>
              <a:t>Pályaállapot és beállítások mentése fájlba.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886200"/>
            <a:ext cx="3337560" cy="1874519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770632" y="4069080"/>
            <a:ext cx="438912" cy="43891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70632" y="414223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8DB9C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9272" y="4050791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t>Asset bővítés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4471416"/>
            <a:ext cx="242316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CE8DE"/>
                </a:solidFill>
                <a:latin typeface="Aptos"/>
              </a:defRPr>
            </a:pPr>
            <a:r>
              <a:t>Több múzeumi modell: szobrok, vitrinek, képek.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886200"/>
            <a:ext cx="3337560" cy="1874519"/>
          </a:xfrm>
          <a:prstGeom prst="roundRect">
            <a:avLst/>
          </a:prstGeom>
          <a:solidFill>
            <a:srgbClr val="1C140F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428231" y="4069080"/>
            <a:ext cx="438912" cy="438912"/>
          </a:xfrm>
          <a:prstGeom prst="ellipse">
            <a:avLst/>
          </a:prstGeom>
          <a:solidFill>
            <a:srgbClr val="941212"/>
          </a:solidFill>
          <a:ln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28231" y="4142232"/>
            <a:ext cx="4389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8DB9C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4050791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DB9C"/>
                </a:solidFill>
                <a:latin typeface="Georgia"/>
              </a:defRPr>
            </a:pPr>
            <a:r>
              <a:t>Vizuális effektek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6872" y="4471416"/>
            <a:ext cx="242316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CE8DE"/>
                </a:solidFill>
                <a:latin typeface="Aptos"/>
              </a:defRPr>
            </a:pPr>
            <a:r>
              <a:t>Árnyék, részecskék, dinamikus köd.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a_dark_moody_atmospheric_interior_scene_of_a_gra_batch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203807" y="2766618"/>
            <a:ext cx="9784080" cy="748247"/>
          </a:xfrm>
          <a:prstGeom prst="roundRect">
            <a:avLst/>
          </a:prstGeom>
          <a:solidFill>
            <a:srgbClr val="120E0C"/>
          </a:solidFill>
          <a:ln w="16510">
            <a:solidFill>
              <a:srgbClr val="D69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59302" y="2904893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F8DB9C"/>
                </a:solidFill>
                <a:latin typeface="Georgia"/>
              </a:defRPr>
            </a:pPr>
            <a:r>
              <a:rPr dirty="0" err="1"/>
              <a:t>Köszönöm</a:t>
            </a:r>
            <a:r>
              <a:rPr dirty="0"/>
              <a:t> a </a:t>
            </a:r>
            <a:r>
              <a:rPr dirty="0" err="1"/>
              <a:t>figyelmet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993</Words>
  <Application>Microsoft Office PowerPoint</Application>
  <PresentationFormat>Widescreen</PresentationFormat>
  <Paragraphs>128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Szabolcsik Máté</cp:lastModifiedBy>
  <cp:revision>3</cp:revision>
  <dcterms:created xsi:type="dcterms:W3CDTF">2013-01-27T09:14:16Z</dcterms:created>
  <dcterms:modified xsi:type="dcterms:W3CDTF">2026-05-10T17:13:43Z</dcterms:modified>
  <cp:category/>
</cp:coreProperties>
</file>